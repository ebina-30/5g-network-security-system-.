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183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155680" y="6473952"/>
            <a:ext cx="457200" cy="182880"/>
          </a:xfrm>
          <a:prstGeom prst="rect">
            <a:avLst/>
          </a:prstGeom>
          <a:noFill/>
        </p:spPr>
        <p:txBody>
          <a:bodyPr wrap="none">
            <a:spAutoFit/>
          </a:bodyPr>
          <a:lstStyle/>
          <a:p>
            <a:pPr algn="r">
              <a:defRPr sz="1000">
                <a:solidFill>
                  <a:srgbClr val="B8CCDE"/>
                </a:solidFill>
              </a:defRPr>
            </a:pPr>
            <a:r>
              <a:t>1</a:t>
            </a:r>
          </a:p>
        </p:txBody>
      </p:sp>
      <p:sp>
        <p:nvSpPr>
          <p:cNvPr id="4" name="Oval 3"/>
          <p:cNvSpPr/>
          <p:nvPr/>
        </p:nvSpPr>
        <p:spPr>
          <a:xfrm>
            <a:off x="8778240" y="1645920"/>
            <a:ext cx="219456" cy="219456"/>
          </a:xfrm>
          <a:prstGeom prst="ellipse">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332720" y="2194560"/>
            <a:ext cx="219456" cy="219456"/>
          </a:xfrm>
          <a:prstGeom prst="ellipse">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0" y="3291840"/>
            <a:ext cx="219456" cy="219456"/>
          </a:xfrm>
          <a:prstGeom prst="ellipse">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789920" y="3931920"/>
            <a:ext cx="219456" cy="219456"/>
          </a:xfrm>
          <a:prstGeom prst="ellipse">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80" y="4663440"/>
            <a:ext cx="219456" cy="219456"/>
          </a:xfrm>
          <a:prstGeom prst="ellipse">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0" y="5212080"/>
            <a:ext cx="219456" cy="219456"/>
          </a:xfrm>
          <a:prstGeom prst="ellipse">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8887968" y="1755648"/>
            <a:ext cx="1554480" cy="548640"/>
          </a:xfrm>
          <a:prstGeom prst="line">
            <a:avLst/>
          </a:prstGeom>
          <a:ln w="25400">
            <a:solidFill>
              <a:srgbClr val="1F698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887968" y="1755648"/>
            <a:ext cx="548640" cy="1645920"/>
          </a:xfrm>
          <a:prstGeom prst="line">
            <a:avLst/>
          </a:prstGeom>
          <a:ln w="25400">
            <a:solidFill>
              <a:srgbClr val="1F698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9436608" y="2304288"/>
            <a:ext cx="1005840" cy="1097280"/>
          </a:xfrm>
          <a:prstGeom prst="line">
            <a:avLst/>
          </a:prstGeom>
          <a:ln w="25400">
            <a:solidFill>
              <a:srgbClr val="1F698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36608" y="3401568"/>
            <a:ext cx="1463040" cy="640080"/>
          </a:xfrm>
          <a:prstGeom prst="line">
            <a:avLst/>
          </a:prstGeom>
          <a:ln w="25400">
            <a:solidFill>
              <a:srgbClr val="1F698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8522208" y="3401568"/>
            <a:ext cx="914400" cy="1371600"/>
          </a:xfrm>
          <a:prstGeom prst="line">
            <a:avLst/>
          </a:prstGeom>
          <a:ln w="25400">
            <a:solidFill>
              <a:srgbClr val="1F698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899648" y="4041648"/>
            <a:ext cx="182880" cy="1280160"/>
          </a:xfrm>
          <a:prstGeom prst="line">
            <a:avLst/>
          </a:prstGeom>
          <a:ln w="25400">
            <a:solidFill>
              <a:srgbClr val="1F698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522208" y="4773168"/>
            <a:ext cx="2560320" cy="548640"/>
          </a:xfrm>
          <a:prstGeom prst="line">
            <a:avLst/>
          </a:prstGeom>
          <a:ln w="25400">
            <a:solidFill>
              <a:srgbClr val="1F6984"/>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1325880"/>
            <a:ext cx="7132320" cy="1554480"/>
          </a:xfrm>
          <a:prstGeom prst="rect">
            <a:avLst/>
          </a:prstGeom>
          <a:noFill/>
        </p:spPr>
        <p:txBody>
          <a:bodyPr wrap="square">
            <a:spAutoFit/>
          </a:bodyPr>
          <a:lstStyle/>
          <a:p>
            <a:pPr>
              <a:spcAft>
                <a:spcPts val="900"/>
              </a:spcAft>
              <a:defRPr sz="3400" b="1">
                <a:solidFill>
                  <a:srgbClr val="F5F9FF"/>
                </a:solidFill>
                <a:latin typeface="Aptos"/>
              </a:defRPr>
            </a:pPr>
            <a:r>
              <a:t>5G NETWORK</a:t>
            </a:r>
          </a:p>
          <a:p>
            <a:pPr>
              <a:spcAft>
                <a:spcPts val="900"/>
              </a:spcAft>
              <a:defRPr sz="3400" b="1">
                <a:solidFill>
                  <a:srgbClr val="F5F9FF"/>
                </a:solidFill>
                <a:latin typeface="Aptos"/>
              </a:defRPr>
            </a:pPr>
            <a:r>
              <a:t>SECURITY SYSTEM</a:t>
            </a:r>
          </a:p>
        </p:txBody>
      </p:sp>
      <p:sp>
        <p:nvSpPr>
          <p:cNvPr id="18" name="TextBox 17"/>
          <p:cNvSpPr txBox="1"/>
          <p:nvPr/>
        </p:nvSpPr>
        <p:spPr>
          <a:xfrm>
            <a:off x="868680" y="3246120"/>
            <a:ext cx="6858000" cy="548640"/>
          </a:xfrm>
          <a:prstGeom prst="rect">
            <a:avLst/>
          </a:prstGeom>
          <a:noFill/>
        </p:spPr>
        <p:txBody>
          <a:bodyPr wrap="square">
            <a:spAutoFit/>
          </a:bodyPr>
          <a:lstStyle/>
          <a:p>
            <a:pPr>
              <a:spcAft>
                <a:spcPts val="900"/>
              </a:spcAft>
              <a:defRPr sz="2000" b="1">
                <a:solidFill>
                  <a:srgbClr val="49D2E1"/>
                </a:solidFill>
                <a:latin typeface="Aptos"/>
              </a:defRPr>
            </a:pPr>
            <a:r>
              <a:t>Hackathon Mini Project</a:t>
            </a:r>
          </a:p>
        </p:txBody>
      </p:sp>
      <p:sp>
        <p:nvSpPr>
          <p:cNvPr id="19" name="TextBox 18"/>
          <p:cNvSpPr txBox="1"/>
          <p:nvPr/>
        </p:nvSpPr>
        <p:spPr>
          <a:xfrm>
            <a:off x="868680" y="3977639"/>
            <a:ext cx="6766560" cy="1097280"/>
          </a:xfrm>
          <a:prstGeom prst="rect">
            <a:avLst/>
          </a:prstGeom>
          <a:noFill/>
        </p:spPr>
        <p:txBody>
          <a:bodyPr wrap="square">
            <a:spAutoFit/>
          </a:bodyPr>
          <a:lstStyle/>
          <a:p>
            <a:pPr>
              <a:spcAft>
                <a:spcPts val="900"/>
              </a:spcAft>
              <a:defRPr sz="1800" b="0">
                <a:solidFill>
                  <a:srgbClr val="B8CCDE"/>
                </a:solidFill>
                <a:latin typeface="Aptos"/>
              </a:defRPr>
            </a:pPr>
            <a:r>
              <a:t>Detecting suspicious traffic, unauthorized access,</a:t>
            </a:r>
          </a:p>
          <a:p>
            <a:pPr>
              <a:spcAft>
                <a:spcPts val="900"/>
              </a:spcAft>
              <a:defRPr sz="1800" b="0">
                <a:solidFill>
                  <a:srgbClr val="B8CCDE"/>
                </a:solidFill>
                <a:latin typeface="Aptos"/>
              </a:defRPr>
            </a:pPr>
            <a:r>
              <a:t>and threats to 5G network services</a:t>
            </a:r>
          </a:p>
        </p:txBody>
      </p:sp>
      <p:sp>
        <p:nvSpPr>
          <p:cNvPr id="20" name="TextBox 19"/>
          <p:cNvSpPr txBox="1"/>
          <p:nvPr/>
        </p:nvSpPr>
        <p:spPr>
          <a:xfrm>
            <a:off x="868680" y="5806440"/>
            <a:ext cx="6858000" cy="320040"/>
          </a:xfrm>
          <a:prstGeom prst="rect">
            <a:avLst/>
          </a:prstGeom>
          <a:noFill/>
        </p:spPr>
        <p:txBody>
          <a:bodyPr wrap="square">
            <a:spAutoFit/>
          </a:bodyPr>
          <a:lstStyle/>
          <a:p>
            <a:pPr>
              <a:spcAft>
                <a:spcPts val="900"/>
              </a:spcAft>
              <a:defRPr sz="1300" b="0">
                <a:solidFill>
                  <a:srgbClr val="F5F9FF"/>
                </a:solidFill>
                <a:latin typeface="Aptos"/>
              </a:defRPr>
            </a:pPr>
            <a:r>
              <a:t>Presented by: ____________________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183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66928"/>
          </a:xfrm>
          <a:prstGeom prst="rect">
            <a:avLst/>
          </a:prstGeom>
          <a:noFill/>
        </p:spPr>
        <p:txBody>
          <a:bodyPr wrap="none">
            <a:spAutoFit/>
          </a:bodyPr>
          <a:lstStyle/>
          <a:p>
            <a:pPr>
              <a:defRPr sz="2900" b="1">
                <a:solidFill>
                  <a:srgbClr val="F5F9FF"/>
                </a:solidFill>
                <a:latin typeface="Aptos Display"/>
              </a:defRPr>
            </a:pPr>
            <a:r>
              <a:t>ABSTRACT</a:t>
            </a:r>
          </a:p>
        </p:txBody>
      </p:sp>
      <p:sp>
        <p:nvSpPr>
          <p:cNvPr id="4" name="TextBox 3"/>
          <p:cNvSpPr txBox="1"/>
          <p:nvPr/>
        </p:nvSpPr>
        <p:spPr>
          <a:xfrm>
            <a:off x="676656" y="960120"/>
            <a:ext cx="10789920" cy="320040"/>
          </a:xfrm>
          <a:prstGeom prst="rect">
            <a:avLst/>
          </a:prstGeom>
          <a:noFill/>
        </p:spPr>
        <p:txBody>
          <a:bodyPr wrap="none">
            <a:spAutoFit/>
          </a:bodyPr>
          <a:lstStyle/>
          <a:p>
            <a:pPr>
              <a:defRPr sz="1200">
                <a:solidFill>
                  <a:srgbClr val="49D2E1"/>
                </a:solidFill>
                <a:latin typeface="Aptos"/>
              </a:defRPr>
            </a:pPr>
            <a:r>
              <a:t>Project overview</a:t>
            </a:r>
          </a:p>
        </p:txBody>
      </p:sp>
      <p:sp>
        <p:nvSpPr>
          <p:cNvPr id="5" name="TextBox 4"/>
          <p:cNvSpPr txBox="1"/>
          <p:nvPr/>
        </p:nvSpPr>
        <p:spPr>
          <a:xfrm>
            <a:off x="11155680" y="6473952"/>
            <a:ext cx="457200" cy="182880"/>
          </a:xfrm>
          <a:prstGeom prst="rect">
            <a:avLst/>
          </a:prstGeom>
          <a:noFill/>
        </p:spPr>
        <p:txBody>
          <a:bodyPr wrap="none">
            <a:spAutoFit/>
          </a:bodyPr>
          <a:lstStyle/>
          <a:p>
            <a:pPr algn="r">
              <a:defRPr sz="1000">
                <a:solidFill>
                  <a:srgbClr val="B8CCDE"/>
                </a:solidFill>
              </a:defRPr>
            </a:pPr>
            <a:r>
              <a:t>2</a:t>
            </a:r>
          </a:p>
        </p:txBody>
      </p:sp>
      <p:sp>
        <p:nvSpPr>
          <p:cNvPr id="6" name="Rounded Rectangle 5"/>
          <p:cNvSpPr/>
          <p:nvPr/>
        </p:nvSpPr>
        <p:spPr>
          <a:xfrm>
            <a:off x="731520" y="1554480"/>
            <a:ext cx="10789920" cy="429768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73152" cy="4297680"/>
          </a:xfrm>
          <a:prstGeom prst="rect">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19072"/>
            <a:ext cx="10378440" cy="347472"/>
          </a:xfrm>
          <a:prstGeom prst="rect">
            <a:avLst/>
          </a:prstGeom>
          <a:noFill/>
        </p:spPr>
        <p:txBody>
          <a:bodyPr wrap="square">
            <a:spAutoFit/>
          </a:bodyPr>
          <a:lstStyle/>
          <a:p>
            <a:pPr>
              <a:spcAft>
                <a:spcPts val="900"/>
              </a:spcAft>
              <a:defRPr sz="1700" b="1">
                <a:solidFill>
                  <a:srgbClr val="00BEB4"/>
                </a:solidFill>
                <a:latin typeface="Aptos"/>
              </a:defRPr>
            </a:pPr>
            <a:r>
              <a:t>Abstract</a:t>
            </a:r>
          </a:p>
        </p:txBody>
      </p:sp>
      <p:sp>
        <p:nvSpPr>
          <p:cNvPr id="9" name="TextBox 8"/>
          <p:cNvSpPr txBox="1"/>
          <p:nvPr/>
        </p:nvSpPr>
        <p:spPr>
          <a:xfrm>
            <a:off x="960120" y="2176272"/>
            <a:ext cx="10378440" cy="3584448"/>
          </a:xfrm>
          <a:prstGeom prst="rect">
            <a:avLst/>
          </a:prstGeom>
          <a:noFill/>
        </p:spPr>
        <p:txBody>
          <a:bodyPr wrap="square">
            <a:spAutoFit/>
          </a:bodyPr>
          <a:lstStyle/>
          <a:p>
            <a:pPr>
              <a:spcAft>
                <a:spcPts val="900"/>
              </a:spcAft>
              <a:defRPr sz="1800" b="0">
                <a:solidFill>
                  <a:srgbClr val="F5F9FF"/>
                </a:solidFill>
                <a:latin typeface="Aptos"/>
              </a:defRPr>
            </a:pPr>
            <a:r>
              <a:t>5G networks provide high-speed connectivity for mobile devices, IoT systems and digital services. Their growing use also creates security challenges, including suspicious traffic, unauthorized access and unusual connection behaviour.</a:t>
            </a:r>
          </a:p>
          <a:p>
            <a:pPr>
              <a:spcAft>
                <a:spcPts val="900"/>
              </a:spcAft>
              <a:defRPr sz="1800" b="0">
                <a:solidFill>
                  <a:srgbClr val="F5F9FF"/>
                </a:solidFill>
                <a:latin typeface="Aptos"/>
              </a:defRPr>
            </a:pPr>
          </a:p>
          <a:p>
            <a:pPr>
              <a:spcAft>
                <a:spcPts val="900"/>
              </a:spcAft>
              <a:defRPr sz="1800" b="0">
                <a:solidFill>
                  <a:srgbClr val="F5F9FF"/>
                </a:solidFill>
                <a:latin typeface="Aptos"/>
              </a:defRPr>
            </a:pPr>
            <a:r>
              <a:t>The proposed 5G Network Security System monitors network-traffic information, identifies behaviour that may be abnormal, classifies the risk level and presents the results on a security dashboard. The dashboard helps a user understand alerts and review important network activity. This is a prototype concept that can be demonstrated with simulated traffic; it does not claim to monitor a live telecom operator network.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183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66928"/>
          </a:xfrm>
          <a:prstGeom prst="rect">
            <a:avLst/>
          </a:prstGeom>
          <a:noFill/>
        </p:spPr>
        <p:txBody>
          <a:bodyPr wrap="none">
            <a:spAutoFit/>
          </a:bodyPr>
          <a:lstStyle/>
          <a:p>
            <a:pPr>
              <a:defRPr sz="2900" b="1">
                <a:solidFill>
                  <a:srgbClr val="F5F9FF"/>
                </a:solidFill>
                <a:latin typeface="Aptos Display"/>
              </a:defRPr>
            </a:pPr>
            <a:r>
              <a:t>PROBLEM STATEMENT &amp; OBJECTIVES</a:t>
            </a:r>
          </a:p>
        </p:txBody>
      </p:sp>
      <p:sp>
        <p:nvSpPr>
          <p:cNvPr id="4" name="TextBox 3"/>
          <p:cNvSpPr txBox="1"/>
          <p:nvPr/>
        </p:nvSpPr>
        <p:spPr>
          <a:xfrm>
            <a:off x="676656" y="960120"/>
            <a:ext cx="10789920" cy="320040"/>
          </a:xfrm>
          <a:prstGeom prst="rect">
            <a:avLst/>
          </a:prstGeom>
          <a:noFill/>
        </p:spPr>
        <p:txBody>
          <a:bodyPr wrap="none">
            <a:spAutoFit/>
          </a:bodyPr>
          <a:lstStyle/>
          <a:p>
            <a:pPr>
              <a:defRPr sz="1200">
                <a:solidFill>
                  <a:srgbClr val="49D2E1"/>
                </a:solidFill>
                <a:latin typeface="Aptos"/>
              </a:defRPr>
            </a:pPr>
            <a:r>
              <a:t>Why this system is needed</a:t>
            </a:r>
          </a:p>
        </p:txBody>
      </p:sp>
      <p:sp>
        <p:nvSpPr>
          <p:cNvPr id="5" name="TextBox 4"/>
          <p:cNvSpPr txBox="1"/>
          <p:nvPr/>
        </p:nvSpPr>
        <p:spPr>
          <a:xfrm>
            <a:off x="11155680" y="6473952"/>
            <a:ext cx="457200" cy="182880"/>
          </a:xfrm>
          <a:prstGeom prst="rect">
            <a:avLst/>
          </a:prstGeom>
          <a:noFill/>
        </p:spPr>
        <p:txBody>
          <a:bodyPr wrap="none">
            <a:spAutoFit/>
          </a:bodyPr>
          <a:lstStyle/>
          <a:p>
            <a:pPr algn="r">
              <a:defRPr sz="1000">
                <a:solidFill>
                  <a:srgbClr val="B8CCDE"/>
                </a:solidFill>
              </a:defRPr>
            </a:pPr>
            <a:r>
              <a:t>3</a:t>
            </a:r>
          </a:p>
        </p:txBody>
      </p:sp>
      <p:sp>
        <p:nvSpPr>
          <p:cNvPr id="6" name="Rounded Rectangle 5"/>
          <p:cNvSpPr/>
          <p:nvPr/>
        </p:nvSpPr>
        <p:spPr>
          <a:xfrm>
            <a:off x="731520" y="1508760"/>
            <a:ext cx="5257800" cy="438912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08760"/>
            <a:ext cx="73152" cy="4389120"/>
          </a:xfrm>
          <a:prstGeom prst="rect">
            <a:avLst/>
          </a:prstGeom>
          <a:solidFill>
            <a:srgbClr val="FF6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73351"/>
            <a:ext cx="4846320" cy="347472"/>
          </a:xfrm>
          <a:prstGeom prst="rect">
            <a:avLst/>
          </a:prstGeom>
          <a:noFill/>
        </p:spPr>
        <p:txBody>
          <a:bodyPr wrap="square">
            <a:spAutoFit/>
          </a:bodyPr>
          <a:lstStyle/>
          <a:p>
            <a:pPr>
              <a:spcAft>
                <a:spcPts val="900"/>
              </a:spcAft>
              <a:defRPr sz="1700" b="1">
                <a:solidFill>
                  <a:srgbClr val="FF6473"/>
                </a:solidFill>
                <a:latin typeface="Aptos"/>
              </a:defRPr>
            </a:pPr>
            <a:r>
              <a:t>Problem Statement</a:t>
            </a:r>
          </a:p>
        </p:txBody>
      </p:sp>
      <p:sp>
        <p:nvSpPr>
          <p:cNvPr id="9" name="TextBox 8"/>
          <p:cNvSpPr txBox="1"/>
          <p:nvPr/>
        </p:nvSpPr>
        <p:spPr>
          <a:xfrm>
            <a:off x="960120" y="2130552"/>
            <a:ext cx="4846320" cy="3675887"/>
          </a:xfrm>
          <a:prstGeom prst="rect">
            <a:avLst/>
          </a:prstGeom>
          <a:noFill/>
        </p:spPr>
        <p:txBody>
          <a:bodyPr wrap="square">
            <a:spAutoFit/>
          </a:bodyPr>
          <a:lstStyle/>
          <a:p>
            <a:pPr>
              <a:spcAft>
                <a:spcPts val="900"/>
              </a:spcAft>
              <a:defRPr sz="1700" b="0">
                <a:solidFill>
                  <a:srgbClr val="F5F9FF"/>
                </a:solidFill>
                <a:latin typeface="Aptos"/>
              </a:defRPr>
            </a:pPr>
            <a:r>
              <a:t>• 5G networks carry large amounts of data</a:t>
            </a:r>
          </a:p>
          <a:p>
            <a:pPr>
              <a:spcAft>
                <a:spcPts val="900"/>
              </a:spcAft>
              <a:defRPr sz="1700" b="0">
                <a:solidFill>
                  <a:srgbClr val="F5F9FF"/>
                </a:solidFill>
                <a:latin typeface="Aptos"/>
              </a:defRPr>
            </a:pPr>
            <a:r>
              <a:t>• Unusual traffic can be difficult to notice manually</a:t>
            </a:r>
          </a:p>
          <a:p>
            <a:pPr>
              <a:spcAft>
                <a:spcPts val="900"/>
              </a:spcAft>
              <a:defRPr sz="1700" b="0">
                <a:solidFill>
                  <a:srgbClr val="F5F9FF"/>
                </a:solidFill>
                <a:latin typeface="Aptos"/>
              </a:defRPr>
            </a:pPr>
            <a:r>
              <a:t>• Unauthorized access may put services at risk</a:t>
            </a:r>
          </a:p>
          <a:p>
            <a:pPr>
              <a:spcAft>
                <a:spcPts val="900"/>
              </a:spcAft>
              <a:defRPr sz="1700" b="0">
                <a:solidFill>
                  <a:srgbClr val="F5F9FF"/>
                </a:solidFill>
                <a:latin typeface="Aptos"/>
              </a:defRPr>
            </a:pPr>
            <a:r>
              <a:t>• Security teams need clear, timely alerts</a:t>
            </a:r>
          </a:p>
        </p:txBody>
      </p:sp>
      <p:sp>
        <p:nvSpPr>
          <p:cNvPr id="10" name="Rounded Rectangle 9"/>
          <p:cNvSpPr/>
          <p:nvPr/>
        </p:nvSpPr>
        <p:spPr>
          <a:xfrm>
            <a:off x="6217920" y="1508760"/>
            <a:ext cx="5257800" cy="438912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508760"/>
            <a:ext cx="73152" cy="4389120"/>
          </a:xfrm>
          <a:prstGeom prst="rect">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673351"/>
            <a:ext cx="4846320" cy="347472"/>
          </a:xfrm>
          <a:prstGeom prst="rect">
            <a:avLst/>
          </a:prstGeom>
          <a:noFill/>
        </p:spPr>
        <p:txBody>
          <a:bodyPr wrap="square">
            <a:spAutoFit/>
          </a:bodyPr>
          <a:lstStyle/>
          <a:p>
            <a:pPr>
              <a:spcAft>
                <a:spcPts val="900"/>
              </a:spcAft>
              <a:defRPr sz="1700" b="1">
                <a:solidFill>
                  <a:srgbClr val="00BEB4"/>
                </a:solidFill>
                <a:latin typeface="Aptos"/>
              </a:defRPr>
            </a:pPr>
            <a:r>
              <a:t>Project Objectives</a:t>
            </a:r>
          </a:p>
        </p:txBody>
      </p:sp>
      <p:sp>
        <p:nvSpPr>
          <p:cNvPr id="13" name="TextBox 12"/>
          <p:cNvSpPr txBox="1"/>
          <p:nvPr/>
        </p:nvSpPr>
        <p:spPr>
          <a:xfrm>
            <a:off x="6446520" y="2130552"/>
            <a:ext cx="4846320" cy="3675887"/>
          </a:xfrm>
          <a:prstGeom prst="rect">
            <a:avLst/>
          </a:prstGeom>
          <a:noFill/>
        </p:spPr>
        <p:txBody>
          <a:bodyPr wrap="square">
            <a:spAutoFit/>
          </a:bodyPr>
          <a:lstStyle/>
          <a:p>
            <a:pPr>
              <a:spcAft>
                <a:spcPts val="900"/>
              </a:spcAft>
              <a:defRPr sz="1700" b="0">
                <a:solidFill>
                  <a:srgbClr val="F5F9FF"/>
                </a:solidFill>
                <a:latin typeface="Aptos"/>
              </a:defRPr>
            </a:pPr>
            <a:r>
              <a:t>• Observe network-traffic features</a:t>
            </a:r>
          </a:p>
          <a:p>
            <a:pPr>
              <a:spcAft>
                <a:spcPts val="900"/>
              </a:spcAft>
              <a:defRPr sz="1700" b="0">
                <a:solidFill>
                  <a:srgbClr val="F5F9FF"/>
                </a:solidFill>
                <a:latin typeface="Aptos"/>
              </a:defRPr>
            </a:pPr>
            <a:r>
              <a:t>• Flag suspicious patterns for review</a:t>
            </a:r>
          </a:p>
          <a:p>
            <a:pPr>
              <a:spcAft>
                <a:spcPts val="900"/>
              </a:spcAft>
              <a:defRPr sz="1700" b="0">
                <a:solidFill>
                  <a:srgbClr val="F5F9FF"/>
                </a:solidFill>
                <a:latin typeface="Aptos"/>
              </a:defRPr>
            </a:pPr>
            <a:r>
              <a:t>• Categorize activity as Normal, Suspicious or High Risk</a:t>
            </a:r>
          </a:p>
          <a:p>
            <a:pPr>
              <a:spcAft>
                <a:spcPts val="900"/>
              </a:spcAft>
              <a:defRPr sz="1700" b="0">
                <a:solidFill>
                  <a:srgbClr val="F5F9FF"/>
                </a:solidFill>
                <a:latin typeface="Aptos"/>
              </a:defRPr>
            </a:pPr>
            <a:r>
              <a:t>• Show key results in one dashboard</a:t>
            </a:r>
          </a:p>
          <a:p>
            <a:pPr>
              <a:spcAft>
                <a:spcPts val="900"/>
              </a:spcAft>
              <a:defRPr sz="1700" b="0">
                <a:solidFill>
                  <a:srgbClr val="F5F9FF"/>
                </a:solidFill>
                <a:latin typeface="Aptos"/>
              </a:defRPr>
            </a:pPr>
            <a:r>
              <a:t>• Support faster investigation by a user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183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66928"/>
          </a:xfrm>
          <a:prstGeom prst="rect">
            <a:avLst/>
          </a:prstGeom>
          <a:noFill/>
        </p:spPr>
        <p:txBody>
          <a:bodyPr wrap="none">
            <a:spAutoFit/>
          </a:bodyPr>
          <a:lstStyle/>
          <a:p>
            <a:pPr>
              <a:defRPr sz="2900" b="1">
                <a:solidFill>
                  <a:srgbClr val="F5F9FF"/>
                </a:solidFill>
                <a:latin typeface="Aptos Display"/>
              </a:defRPr>
            </a:pPr>
            <a:r>
              <a:t>SYSTEM WORKFLOW</a:t>
            </a:r>
          </a:p>
        </p:txBody>
      </p:sp>
      <p:sp>
        <p:nvSpPr>
          <p:cNvPr id="4" name="TextBox 3"/>
          <p:cNvSpPr txBox="1"/>
          <p:nvPr/>
        </p:nvSpPr>
        <p:spPr>
          <a:xfrm>
            <a:off x="676656" y="960120"/>
            <a:ext cx="10789920" cy="320040"/>
          </a:xfrm>
          <a:prstGeom prst="rect">
            <a:avLst/>
          </a:prstGeom>
          <a:noFill/>
        </p:spPr>
        <p:txBody>
          <a:bodyPr wrap="none">
            <a:spAutoFit/>
          </a:bodyPr>
          <a:lstStyle/>
          <a:p>
            <a:pPr>
              <a:defRPr sz="1200">
                <a:solidFill>
                  <a:srgbClr val="49D2E1"/>
                </a:solidFill>
                <a:latin typeface="Aptos"/>
              </a:defRPr>
            </a:pPr>
            <a:r>
              <a:t>From network activity to a security alert</a:t>
            </a:r>
          </a:p>
        </p:txBody>
      </p:sp>
      <p:sp>
        <p:nvSpPr>
          <p:cNvPr id="5" name="TextBox 4"/>
          <p:cNvSpPr txBox="1"/>
          <p:nvPr/>
        </p:nvSpPr>
        <p:spPr>
          <a:xfrm>
            <a:off x="11155680" y="6473952"/>
            <a:ext cx="457200" cy="182880"/>
          </a:xfrm>
          <a:prstGeom prst="rect">
            <a:avLst/>
          </a:prstGeom>
          <a:noFill/>
        </p:spPr>
        <p:txBody>
          <a:bodyPr wrap="none">
            <a:spAutoFit/>
          </a:bodyPr>
          <a:lstStyle/>
          <a:p>
            <a:pPr algn="r">
              <a:defRPr sz="1000">
                <a:solidFill>
                  <a:srgbClr val="B8CCDE"/>
                </a:solidFill>
              </a:defRPr>
            </a:pPr>
            <a:r>
              <a:t>4</a:t>
            </a:r>
          </a:p>
        </p:txBody>
      </p:sp>
      <p:sp>
        <p:nvSpPr>
          <p:cNvPr id="6" name="Rounded Rectangle 5"/>
          <p:cNvSpPr/>
          <p:nvPr/>
        </p:nvSpPr>
        <p:spPr>
          <a:xfrm>
            <a:off x="685800" y="2468880"/>
            <a:ext cx="1325880" cy="1325880"/>
          </a:xfrm>
          <a:prstGeom prst="roundRect">
            <a:avLst/>
          </a:prstGeom>
          <a:solidFill>
            <a:srgbClr val="0D2742"/>
          </a:solidFill>
          <a:ln>
            <a:solidFill>
              <a:srgbClr val="00BE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633472"/>
            <a:ext cx="1179576" cy="274320"/>
          </a:xfrm>
          <a:prstGeom prst="rect">
            <a:avLst/>
          </a:prstGeom>
          <a:noFill/>
        </p:spPr>
        <p:txBody>
          <a:bodyPr wrap="square">
            <a:spAutoFit/>
          </a:bodyPr>
          <a:lstStyle/>
          <a:p>
            <a:pPr algn="ctr">
              <a:spcAft>
                <a:spcPts val="900"/>
              </a:spcAft>
              <a:defRPr sz="1200" b="1">
                <a:solidFill>
                  <a:srgbClr val="49D2E1"/>
                </a:solidFill>
                <a:latin typeface="Aptos"/>
              </a:defRPr>
            </a:pPr>
            <a:r>
              <a:t>01</a:t>
            </a:r>
          </a:p>
        </p:txBody>
      </p:sp>
      <p:sp>
        <p:nvSpPr>
          <p:cNvPr id="8" name="TextBox 7"/>
          <p:cNvSpPr txBox="1"/>
          <p:nvPr/>
        </p:nvSpPr>
        <p:spPr>
          <a:xfrm>
            <a:off x="758952" y="2944368"/>
            <a:ext cx="1179576" cy="685800"/>
          </a:xfrm>
          <a:prstGeom prst="rect">
            <a:avLst/>
          </a:prstGeom>
          <a:noFill/>
        </p:spPr>
        <p:txBody>
          <a:bodyPr wrap="square">
            <a:spAutoFit/>
          </a:bodyPr>
          <a:lstStyle/>
          <a:p>
            <a:pPr algn="ctr">
              <a:spcAft>
                <a:spcPts val="900"/>
              </a:spcAft>
              <a:defRPr sz="1300" b="1">
                <a:solidFill>
                  <a:srgbClr val="F5F9FF"/>
                </a:solidFill>
                <a:latin typeface="Aptos"/>
              </a:defRPr>
            </a:pPr>
            <a:r>
              <a:t>5G / IoT Devices</a:t>
            </a:r>
          </a:p>
        </p:txBody>
      </p:sp>
      <p:cxnSp>
        <p:nvCxnSpPr>
          <p:cNvPr id="9" name="Connector 8"/>
          <p:cNvCxnSpPr/>
          <p:nvPr/>
        </p:nvCxnSpPr>
        <p:spPr>
          <a:xfrm>
            <a:off x="2029968" y="3127248"/>
            <a:ext cx="246888" cy="0"/>
          </a:xfrm>
          <a:prstGeom prst="line">
            <a:avLst/>
          </a:prstGeom>
          <a:ln w="25400">
            <a:solidFill>
              <a:srgbClr val="00BEB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331720" y="2468880"/>
            <a:ext cx="1325880" cy="1325880"/>
          </a:xfrm>
          <a:prstGeom prst="roundRect">
            <a:avLst/>
          </a:prstGeom>
          <a:solidFill>
            <a:srgbClr val="0D2742"/>
          </a:solidFill>
          <a:ln>
            <a:solidFill>
              <a:srgbClr val="00BE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04872" y="2633472"/>
            <a:ext cx="1179576" cy="274320"/>
          </a:xfrm>
          <a:prstGeom prst="rect">
            <a:avLst/>
          </a:prstGeom>
          <a:noFill/>
        </p:spPr>
        <p:txBody>
          <a:bodyPr wrap="square">
            <a:spAutoFit/>
          </a:bodyPr>
          <a:lstStyle/>
          <a:p>
            <a:pPr algn="ctr">
              <a:spcAft>
                <a:spcPts val="900"/>
              </a:spcAft>
              <a:defRPr sz="1200" b="1">
                <a:solidFill>
                  <a:srgbClr val="49D2E1"/>
                </a:solidFill>
                <a:latin typeface="Aptos"/>
              </a:defRPr>
            </a:pPr>
            <a:r>
              <a:t>02</a:t>
            </a:r>
          </a:p>
        </p:txBody>
      </p:sp>
      <p:sp>
        <p:nvSpPr>
          <p:cNvPr id="12" name="TextBox 11"/>
          <p:cNvSpPr txBox="1"/>
          <p:nvPr/>
        </p:nvSpPr>
        <p:spPr>
          <a:xfrm>
            <a:off x="2404872" y="2944368"/>
            <a:ext cx="1179576" cy="685800"/>
          </a:xfrm>
          <a:prstGeom prst="rect">
            <a:avLst/>
          </a:prstGeom>
          <a:noFill/>
        </p:spPr>
        <p:txBody>
          <a:bodyPr wrap="square">
            <a:spAutoFit/>
          </a:bodyPr>
          <a:lstStyle/>
          <a:p>
            <a:pPr algn="ctr">
              <a:spcAft>
                <a:spcPts val="900"/>
              </a:spcAft>
              <a:defRPr sz="1300" b="1">
                <a:solidFill>
                  <a:srgbClr val="F5F9FF"/>
                </a:solidFill>
                <a:latin typeface="Aptos"/>
              </a:defRPr>
            </a:pPr>
            <a:r>
              <a:t>Traffic Data</a:t>
            </a:r>
          </a:p>
        </p:txBody>
      </p:sp>
      <p:cxnSp>
        <p:nvCxnSpPr>
          <p:cNvPr id="13" name="Connector 12"/>
          <p:cNvCxnSpPr/>
          <p:nvPr/>
        </p:nvCxnSpPr>
        <p:spPr>
          <a:xfrm>
            <a:off x="3675887" y="3127248"/>
            <a:ext cx="246889" cy="0"/>
          </a:xfrm>
          <a:prstGeom prst="line">
            <a:avLst/>
          </a:prstGeom>
          <a:ln w="25400">
            <a:solidFill>
              <a:srgbClr val="00BEB4"/>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977639" y="2468880"/>
            <a:ext cx="1325880" cy="1325880"/>
          </a:xfrm>
          <a:prstGeom prst="roundRect">
            <a:avLst/>
          </a:prstGeom>
          <a:solidFill>
            <a:srgbClr val="0D2742"/>
          </a:solidFill>
          <a:ln>
            <a:solidFill>
              <a:srgbClr val="00BE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50791" y="2633472"/>
            <a:ext cx="1179576" cy="274320"/>
          </a:xfrm>
          <a:prstGeom prst="rect">
            <a:avLst/>
          </a:prstGeom>
          <a:noFill/>
        </p:spPr>
        <p:txBody>
          <a:bodyPr wrap="square">
            <a:spAutoFit/>
          </a:bodyPr>
          <a:lstStyle/>
          <a:p>
            <a:pPr algn="ctr">
              <a:spcAft>
                <a:spcPts val="900"/>
              </a:spcAft>
              <a:defRPr sz="1200" b="1">
                <a:solidFill>
                  <a:srgbClr val="49D2E1"/>
                </a:solidFill>
                <a:latin typeface="Aptos"/>
              </a:defRPr>
            </a:pPr>
            <a:r>
              <a:t>03</a:t>
            </a:r>
          </a:p>
        </p:txBody>
      </p:sp>
      <p:sp>
        <p:nvSpPr>
          <p:cNvPr id="16" name="TextBox 15"/>
          <p:cNvSpPr txBox="1"/>
          <p:nvPr/>
        </p:nvSpPr>
        <p:spPr>
          <a:xfrm>
            <a:off x="4050791" y="2944368"/>
            <a:ext cx="1179576" cy="685800"/>
          </a:xfrm>
          <a:prstGeom prst="rect">
            <a:avLst/>
          </a:prstGeom>
          <a:noFill/>
        </p:spPr>
        <p:txBody>
          <a:bodyPr wrap="square">
            <a:spAutoFit/>
          </a:bodyPr>
          <a:lstStyle/>
          <a:p>
            <a:pPr algn="ctr">
              <a:spcAft>
                <a:spcPts val="900"/>
              </a:spcAft>
              <a:defRPr sz="1300" b="1">
                <a:solidFill>
                  <a:srgbClr val="F5F9FF"/>
                </a:solidFill>
                <a:latin typeface="Aptos"/>
              </a:defRPr>
            </a:pPr>
            <a:r>
              <a:t>Data Collection</a:t>
            </a:r>
          </a:p>
        </p:txBody>
      </p:sp>
      <p:cxnSp>
        <p:nvCxnSpPr>
          <p:cNvPr id="17" name="Connector 16"/>
          <p:cNvCxnSpPr/>
          <p:nvPr/>
        </p:nvCxnSpPr>
        <p:spPr>
          <a:xfrm>
            <a:off x="5321807" y="3127248"/>
            <a:ext cx="246889" cy="0"/>
          </a:xfrm>
          <a:prstGeom prst="line">
            <a:avLst/>
          </a:prstGeom>
          <a:ln w="25400">
            <a:solidFill>
              <a:srgbClr val="00BEB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623560" y="2468880"/>
            <a:ext cx="1325880" cy="1325880"/>
          </a:xfrm>
          <a:prstGeom prst="roundRect">
            <a:avLst/>
          </a:prstGeom>
          <a:solidFill>
            <a:srgbClr val="0D2742"/>
          </a:solidFill>
          <a:ln>
            <a:solidFill>
              <a:srgbClr val="00BE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96712" y="2633472"/>
            <a:ext cx="1179576" cy="274320"/>
          </a:xfrm>
          <a:prstGeom prst="rect">
            <a:avLst/>
          </a:prstGeom>
          <a:noFill/>
        </p:spPr>
        <p:txBody>
          <a:bodyPr wrap="square">
            <a:spAutoFit/>
          </a:bodyPr>
          <a:lstStyle/>
          <a:p>
            <a:pPr algn="ctr">
              <a:spcAft>
                <a:spcPts val="900"/>
              </a:spcAft>
              <a:defRPr sz="1200" b="1">
                <a:solidFill>
                  <a:srgbClr val="49D2E1"/>
                </a:solidFill>
                <a:latin typeface="Aptos"/>
              </a:defRPr>
            </a:pPr>
            <a:r>
              <a:t>04</a:t>
            </a:r>
          </a:p>
        </p:txBody>
      </p:sp>
      <p:sp>
        <p:nvSpPr>
          <p:cNvPr id="20" name="TextBox 19"/>
          <p:cNvSpPr txBox="1"/>
          <p:nvPr/>
        </p:nvSpPr>
        <p:spPr>
          <a:xfrm>
            <a:off x="5696712" y="2944368"/>
            <a:ext cx="1179576" cy="685800"/>
          </a:xfrm>
          <a:prstGeom prst="rect">
            <a:avLst/>
          </a:prstGeom>
          <a:noFill/>
        </p:spPr>
        <p:txBody>
          <a:bodyPr wrap="square">
            <a:spAutoFit/>
          </a:bodyPr>
          <a:lstStyle/>
          <a:p>
            <a:pPr algn="ctr">
              <a:spcAft>
                <a:spcPts val="900"/>
              </a:spcAft>
              <a:defRPr sz="1300" b="1">
                <a:solidFill>
                  <a:srgbClr val="F5F9FF"/>
                </a:solidFill>
                <a:latin typeface="Aptos"/>
              </a:defRPr>
            </a:pPr>
            <a:r>
              <a:t>Feature Analysis</a:t>
            </a:r>
          </a:p>
        </p:txBody>
      </p:sp>
      <p:cxnSp>
        <p:nvCxnSpPr>
          <p:cNvPr id="21" name="Connector 20"/>
          <p:cNvCxnSpPr/>
          <p:nvPr/>
        </p:nvCxnSpPr>
        <p:spPr>
          <a:xfrm>
            <a:off x="6967728" y="3127248"/>
            <a:ext cx="246888" cy="0"/>
          </a:xfrm>
          <a:prstGeom prst="line">
            <a:avLst/>
          </a:prstGeom>
          <a:ln w="25400">
            <a:solidFill>
              <a:srgbClr val="00BEB4"/>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269480" y="2468880"/>
            <a:ext cx="1325880" cy="1325880"/>
          </a:xfrm>
          <a:prstGeom prst="roundRect">
            <a:avLst/>
          </a:prstGeom>
          <a:solidFill>
            <a:srgbClr val="0D2742"/>
          </a:solidFill>
          <a:ln>
            <a:solidFill>
              <a:srgbClr val="00BE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2631" y="2633472"/>
            <a:ext cx="1179576" cy="274320"/>
          </a:xfrm>
          <a:prstGeom prst="rect">
            <a:avLst/>
          </a:prstGeom>
          <a:noFill/>
        </p:spPr>
        <p:txBody>
          <a:bodyPr wrap="square">
            <a:spAutoFit/>
          </a:bodyPr>
          <a:lstStyle/>
          <a:p>
            <a:pPr algn="ctr">
              <a:spcAft>
                <a:spcPts val="900"/>
              </a:spcAft>
              <a:defRPr sz="1200" b="1">
                <a:solidFill>
                  <a:srgbClr val="49D2E1"/>
                </a:solidFill>
                <a:latin typeface="Aptos"/>
              </a:defRPr>
            </a:pPr>
            <a:r>
              <a:t>05</a:t>
            </a:r>
          </a:p>
        </p:txBody>
      </p:sp>
      <p:sp>
        <p:nvSpPr>
          <p:cNvPr id="24" name="TextBox 23"/>
          <p:cNvSpPr txBox="1"/>
          <p:nvPr/>
        </p:nvSpPr>
        <p:spPr>
          <a:xfrm>
            <a:off x="7342631" y="2944368"/>
            <a:ext cx="1179576" cy="685800"/>
          </a:xfrm>
          <a:prstGeom prst="rect">
            <a:avLst/>
          </a:prstGeom>
          <a:noFill/>
        </p:spPr>
        <p:txBody>
          <a:bodyPr wrap="square">
            <a:spAutoFit/>
          </a:bodyPr>
          <a:lstStyle/>
          <a:p>
            <a:pPr algn="ctr">
              <a:spcAft>
                <a:spcPts val="900"/>
              </a:spcAft>
              <a:defRPr sz="1300" b="1">
                <a:solidFill>
                  <a:srgbClr val="F5F9FF"/>
                </a:solidFill>
                <a:latin typeface="Aptos"/>
              </a:defRPr>
            </a:pPr>
            <a:r>
              <a:t>Threat / Risk Check</a:t>
            </a:r>
          </a:p>
        </p:txBody>
      </p:sp>
      <p:cxnSp>
        <p:nvCxnSpPr>
          <p:cNvPr id="25" name="Connector 24"/>
          <p:cNvCxnSpPr/>
          <p:nvPr/>
        </p:nvCxnSpPr>
        <p:spPr>
          <a:xfrm>
            <a:off x="8613648" y="3127248"/>
            <a:ext cx="246888" cy="0"/>
          </a:xfrm>
          <a:prstGeom prst="line">
            <a:avLst/>
          </a:prstGeom>
          <a:ln w="25400">
            <a:solidFill>
              <a:srgbClr val="00BEB4"/>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915400" y="2468880"/>
            <a:ext cx="1051560" cy="1325880"/>
          </a:xfrm>
          <a:prstGeom prst="roundRect">
            <a:avLst/>
          </a:prstGeom>
          <a:solidFill>
            <a:srgbClr val="0D2742"/>
          </a:solidFill>
          <a:ln>
            <a:solidFill>
              <a:srgbClr val="00BE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88552" y="2633472"/>
            <a:ext cx="905255" cy="274320"/>
          </a:xfrm>
          <a:prstGeom prst="rect">
            <a:avLst/>
          </a:prstGeom>
          <a:noFill/>
        </p:spPr>
        <p:txBody>
          <a:bodyPr wrap="square">
            <a:spAutoFit/>
          </a:bodyPr>
          <a:lstStyle/>
          <a:p>
            <a:pPr algn="ctr">
              <a:spcAft>
                <a:spcPts val="900"/>
              </a:spcAft>
              <a:defRPr sz="1200" b="1">
                <a:solidFill>
                  <a:srgbClr val="49D2E1"/>
                </a:solidFill>
                <a:latin typeface="Aptos"/>
              </a:defRPr>
            </a:pPr>
            <a:r>
              <a:t>06</a:t>
            </a:r>
          </a:p>
        </p:txBody>
      </p:sp>
      <p:sp>
        <p:nvSpPr>
          <p:cNvPr id="28" name="TextBox 27"/>
          <p:cNvSpPr txBox="1"/>
          <p:nvPr/>
        </p:nvSpPr>
        <p:spPr>
          <a:xfrm>
            <a:off x="8988552" y="2944368"/>
            <a:ext cx="905255" cy="685800"/>
          </a:xfrm>
          <a:prstGeom prst="rect">
            <a:avLst/>
          </a:prstGeom>
          <a:noFill/>
        </p:spPr>
        <p:txBody>
          <a:bodyPr wrap="square">
            <a:spAutoFit/>
          </a:bodyPr>
          <a:lstStyle/>
          <a:p>
            <a:pPr algn="ctr">
              <a:spcAft>
                <a:spcPts val="900"/>
              </a:spcAft>
              <a:defRPr sz="1300" b="1">
                <a:solidFill>
                  <a:srgbClr val="F5F9FF"/>
                </a:solidFill>
                <a:latin typeface="Aptos"/>
              </a:defRPr>
            </a:pPr>
            <a:r>
              <a:t>Dashboard</a:t>
            </a:r>
          </a:p>
        </p:txBody>
      </p:sp>
      <p:cxnSp>
        <p:nvCxnSpPr>
          <p:cNvPr id="29" name="Connector 28"/>
          <p:cNvCxnSpPr/>
          <p:nvPr/>
        </p:nvCxnSpPr>
        <p:spPr>
          <a:xfrm>
            <a:off x="9985248" y="3127248"/>
            <a:ext cx="109728" cy="0"/>
          </a:xfrm>
          <a:prstGeom prst="line">
            <a:avLst/>
          </a:prstGeom>
          <a:ln w="25400">
            <a:solidFill>
              <a:srgbClr val="00BEB4"/>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0149840" y="2468880"/>
            <a:ext cx="1325880" cy="1325880"/>
          </a:xfrm>
          <a:prstGeom prst="roundRect">
            <a:avLst/>
          </a:prstGeom>
          <a:solidFill>
            <a:srgbClr val="0D2742"/>
          </a:solidFill>
          <a:ln>
            <a:solidFill>
              <a:srgbClr val="00BE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22992" y="2633472"/>
            <a:ext cx="1179576" cy="274320"/>
          </a:xfrm>
          <a:prstGeom prst="rect">
            <a:avLst/>
          </a:prstGeom>
          <a:noFill/>
        </p:spPr>
        <p:txBody>
          <a:bodyPr wrap="square">
            <a:spAutoFit/>
          </a:bodyPr>
          <a:lstStyle/>
          <a:p>
            <a:pPr algn="ctr">
              <a:spcAft>
                <a:spcPts val="900"/>
              </a:spcAft>
              <a:defRPr sz="1200" b="1">
                <a:solidFill>
                  <a:srgbClr val="49D2E1"/>
                </a:solidFill>
                <a:latin typeface="Aptos"/>
              </a:defRPr>
            </a:pPr>
            <a:r>
              <a:t>07</a:t>
            </a:r>
          </a:p>
        </p:txBody>
      </p:sp>
      <p:sp>
        <p:nvSpPr>
          <p:cNvPr id="32" name="TextBox 31"/>
          <p:cNvSpPr txBox="1"/>
          <p:nvPr/>
        </p:nvSpPr>
        <p:spPr>
          <a:xfrm>
            <a:off x="10222992" y="2944368"/>
            <a:ext cx="1179576" cy="685800"/>
          </a:xfrm>
          <a:prstGeom prst="rect">
            <a:avLst/>
          </a:prstGeom>
          <a:noFill/>
        </p:spPr>
        <p:txBody>
          <a:bodyPr wrap="square">
            <a:spAutoFit/>
          </a:bodyPr>
          <a:lstStyle/>
          <a:p>
            <a:pPr algn="ctr">
              <a:spcAft>
                <a:spcPts val="900"/>
              </a:spcAft>
              <a:defRPr sz="1300" b="1">
                <a:solidFill>
                  <a:srgbClr val="F5F9FF"/>
                </a:solidFill>
                <a:latin typeface="Aptos"/>
              </a:defRPr>
            </a:pPr>
            <a:r>
              <a:t>Alert &amp; Review</a:t>
            </a:r>
          </a:p>
        </p:txBody>
      </p:sp>
      <p:sp>
        <p:nvSpPr>
          <p:cNvPr id="33" name="TextBox 32"/>
          <p:cNvSpPr txBox="1"/>
          <p:nvPr/>
        </p:nvSpPr>
        <p:spPr>
          <a:xfrm>
            <a:off x="914400" y="4663440"/>
            <a:ext cx="10241280" cy="731520"/>
          </a:xfrm>
          <a:prstGeom prst="rect">
            <a:avLst/>
          </a:prstGeom>
          <a:noFill/>
        </p:spPr>
        <p:txBody>
          <a:bodyPr wrap="square">
            <a:spAutoFit/>
          </a:bodyPr>
          <a:lstStyle/>
          <a:p>
            <a:pPr algn="ctr">
              <a:spcAft>
                <a:spcPts val="900"/>
              </a:spcAft>
              <a:defRPr sz="1800" b="1">
                <a:solidFill>
                  <a:srgbClr val="B8CCDE"/>
                </a:solidFill>
                <a:latin typeface="Aptos"/>
              </a:defRPr>
            </a:pPr>
            <a:r>
              <a:t>Output: understandable risk status + reason for review + visible dashboard summary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183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66928"/>
          </a:xfrm>
          <a:prstGeom prst="rect">
            <a:avLst/>
          </a:prstGeom>
          <a:noFill/>
        </p:spPr>
        <p:txBody>
          <a:bodyPr wrap="none">
            <a:spAutoFit/>
          </a:bodyPr>
          <a:lstStyle/>
          <a:p>
            <a:pPr>
              <a:defRPr sz="2900" b="1">
                <a:solidFill>
                  <a:srgbClr val="F5F9FF"/>
                </a:solidFill>
                <a:latin typeface="Aptos Display"/>
              </a:defRPr>
            </a:pPr>
            <a:r>
              <a:t>WHAT THE SYSTEM CHECKS</a:t>
            </a:r>
          </a:p>
        </p:txBody>
      </p:sp>
      <p:sp>
        <p:nvSpPr>
          <p:cNvPr id="4" name="TextBox 3"/>
          <p:cNvSpPr txBox="1"/>
          <p:nvPr/>
        </p:nvSpPr>
        <p:spPr>
          <a:xfrm>
            <a:off x="676656" y="960120"/>
            <a:ext cx="10789920" cy="320040"/>
          </a:xfrm>
          <a:prstGeom prst="rect">
            <a:avLst/>
          </a:prstGeom>
          <a:noFill/>
        </p:spPr>
        <p:txBody>
          <a:bodyPr wrap="none">
            <a:spAutoFit/>
          </a:bodyPr>
          <a:lstStyle/>
          <a:p>
            <a:pPr>
              <a:defRPr sz="1200">
                <a:solidFill>
                  <a:srgbClr val="49D2E1"/>
                </a:solidFill>
                <a:latin typeface="Aptos"/>
              </a:defRPr>
            </a:pPr>
            <a:r>
              <a:t>Illustrative traffic indicators</a:t>
            </a:r>
          </a:p>
        </p:txBody>
      </p:sp>
      <p:sp>
        <p:nvSpPr>
          <p:cNvPr id="5" name="TextBox 4"/>
          <p:cNvSpPr txBox="1"/>
          <p:nvPr/>
        </p:nvSpPr>
        <p:spPr>
          <a:xfrm>
            <a:off x="11155680" y="6473952"/>
            <a:ext cx="457200" cy="182880"/>
          </a:xfrm>
          <a:prstGeom prst="rect">
            <a:avLst/>
          </a:prstGeom>
          <a:noFill/>
        </p:spPr>
        <p:txBody>
          <a:bodyPr wrap="none">
            <a:spAutoFit/>
          </a:bodyPr>
          <a:lstStyle/>
          <a:p>
            <a:pPr algn="r">
              <a:defRPr sz="1000">
                <a:solidFill>
                  <a:srgbClr val="B8CCDE"/>
                </a:solidFill>
              </a:defRPr>
            </a:pPr>
            <a:r>
              <a:t>5</a:t>
            </a:r>
          </a:p>
        </p:txBody>
      </p:sp>
      <p:sp>
        <p:nvSpPr>
          <p:cNvPr id="6" name="Rounded Rectangle 5"/>
          <p:cNvSpPr/>
          <p:nvPr/>
        </p:nvSpPr>
        <p:spPr>
          <a:xfrm>
            <a:off x="731520" y="1600200"/>
            <a:ext cx="5120640" cy="160020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00200"/>
            <a:ext cx="73152" cy="1600200"/>
          </a:xfrm>
          <a:prstGeom prst="rect">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64792"/>
            <a:ext cx="4709159" cy="347472"/>
          </a:xfrm>
          <a:prstGeom prst="rect">
            <a:avLst/>
          </a:prstGeom>
          <a:noFill/>
        </p:spPr>
        <p:txBody>
          <a:bodyPr wrap="square">
            <a:spAutoFit/>
          </a:bodyPr>
          <a:lstStyle/>
          <a:p>
            <a:pPr>
              <a:spcAft>
                <a:spcPts val="900"/>
              </a:spcAft>
              <a:defRPr sz="1700" b="1">
                <a:solidFill>
                  <a:srgbClr val="00BEB4"/>
                </a:solidFill>
                <a:latin typeface="Aptos"/>
              </a:defRPr>
            </a:pPr>
            <a:r>
              <a:t>Traffic volume</a:t>
            </a:r>
          </a:p>
        </p:txBody>
      </p:sp>
      <p:sp>
        <p:nvSpPr>
          <p:cNvPr id="9" name="TextBox 8"/>
          <p:cNvSpPr txBox="1"/>
          <p:nvPr/>
        </p:nvSpPr>
        <p:spPr>
          <a:xfrm>
            <a:off x="960120" y="2221992"/>
            <a:ext cx="4709159" cy="886968"/>
          </a:xfrm>
          <a:prstGeom prst="rect">
            <a:avLst/>
          </a:prstGeom>
          <a:noFill/>
        </p:spPr>
        <p:txBody>
          <a:bodyPr wrap="square">
            <a:spAutoFit/>
          </a:bodyPr>
          <a:lstStyle/>
          <a:p>
            <a:pPr>
              <a:spcAft>
                <a:spcPts val="900"/>
              </a:spcAft>
              <a:defRPr sz="1600" b="0">
                <a:solidFill>
                  <a:srgbClr val="F5F9FF"/>
                </a:solidFill>
                <a:latin typeface="Aptos"/>
              </a:defRPr>
            </a:pPr>
            <a:r>
              <a:t>Sudden increase or unusual packet count</a:t>
            </a:r>
          </a:p>
        </p:txBody>
      </p:sp>
      <p:sp>
        <p:nvSpPr>
          <p:cNvPr id="10" name="Rounded Rectangle 9"/>
          <p:cNvSpPr/>
          <p:nvPr/>
        </p:nvSpPr>
        <p:spPr>
          <a:xfrm>
            <a:off x="6217920" y="1600200"/>
            <a:ext cx="5120640" cy="160020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600200"/>
            <a:ext cx="73152" cy="1600200"/>
          </a:xfrm>
          <a:prstGeom prst="rect">
            <a:avLst/>
          </a:prstGeom>
          <a:solidFill>
            <a:srgbClr val="49D2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764792"/>
            <a:ext cx="4709159" cy="347472"/>
          </a:xfrm>
          <a:prstGeom prst="rect">
            <a:avLst/>
          </a:prstGeom>
          <a:noFill/>
        </p:spPr>
        <p:txBody>
          <a:bodyPr wrap="square">
            <a:spAutoFit/>
          </a:bodyPr>
          <a:lstStyle/>
          <a:p>
            <a:pPr>
              <a:spcAft>
                <a:spcPts val="900"/>
              </a:spcAft>
              <a:defRPr sz="1700" b="1">
                <a:solidFill>
                  <a:srgbClr val="49D2E1"/>
                </a:solidFill>
                <a:latin typeface="Aptos"/>
              </a:defRPr>
            </a:pPr>
            <a:r>
              <a:t>Connection frequency</a:t>
            </a:r>
          </a:p>
        </p:txBody>
      </p:sp>
      <p:sp>
        <p:nvSpPr>
          <p:cNvPr id="13" name="TextBox 12"/>
          <p:cNvSpPr txBox="1"/>
          <p:nvPr/>
        </p:nvSpPr>
        <p:spPr>
          <a:xfrm>
            <a:off x="6446520" y="2221992"/>
            <a:ext cx="4709159" cy="886968"/>
          </a:xfrm>
          <a:prstGeom prst="rect">
            <a:avLst/>
          </a:prstGeom>
          <a:noFill/>
        </p:spPr>
        <p:txBody>
          <a:bodyPr wrap="square">
            <a:spAutoFit/>
          </a:bodyPr>
          <a:lstStyle/>
          <a:p>
            <a:pPr>
              <a:spcAft>
                <a:spcPts val="900"/>
              </a:spcAft>
              <a:defRPr sz="1600" b="0">
                <a:solidFill>
                  <a:srgbClr val="F5F9FF"/>
                </a:solidFill>
                <a:latin typeface="Aptos"/>
              </a:defRPr>
            </a:pPr>
            <a:r>
              <a:t>Repeated or unexpected connection attempts</a:t>
            </a:r>
          </a:p>
        </p:txBody>
      </p:sp>
      <p:sp>
        <p:nvSpPr>
          <p:cNvPr id="14" name="Rounded Rectangle 13"/>
          <p:cNvSpPr/>
          <p:nvPr/>
        </p:nvSpPr>
        <p:spPr>
          <a:xfrm>
            <a:off x="731520" y="3657600"/>
            <a:ext cx="5120640" cy="160020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657600"/>
            <a:ext cx="73152" cy="1600200"/>
          </a:xfrm>
          <a:prstGeom prst="rect">
            <a:avLst/>
          </a:prstGeom>
          <a:solidFill>
            <a:srgbClr val="FFB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822191"/>
            <a:ext cx="4709159" cy="347472"/>
          </a:xfrm>
          <a:prstGeom prst="rect">
            <a:avLst/>
          </a:prstGeom>
          <a:noFill/>
        </p:spPr>
        <p:txBody>
          <a:bodyPr wrap="square">
            <a:spAutoFit/>
          </a:bodyPr>
          <a:lstStyle/>
          <a:p>
            <a:pPr>
              <a:spcAft>
                <a:spcPts val="900"/>
              </a:spcAft>
              <a:defRPr sz="1700" b="1">
                <a:solidFill>
                  <a:srgbClr val="FFB24A"/>
                </a:solidFill>
                <a:latin typeface="Aptos"/>
              </a:defRPr>
            </a:pPr>
            <a:r>
              <a:t>Source / destination</a:t>
            </a:r>
          </a:p>
        </p:txBody>
      </p:sp>
      <p:sp>
        <p:nvSpPr>
          <p:cNvPr id="17" name="TextBox 16"/>
          <p:cNvSpPr txBox="1"/>
          <p:nvPr/>
        </p:nvSpPr>
        <p:spPr>
          <a:xfrm>
            <a:off x="960120" y="4279392"/>
            <a:ext cx="4709159" cy="886968"/>
          </a:xfrm>
          <a:prstGeom prst="rect">
            <a:avLst/>
          </a:prstGeom>
          <a:noFill/>
        </p:spPr>
        <p:txBody>
          <a:bodyPr wrap="square">
            <a:spAutoFit/>
          </a:bodyPr>
          <a:lstStyle/>
          <a:p>
            <a:pPr>
              <a:spcAft>
                <a:spcPts val="900"/>
              </a:spcAft>
              <a:defRPr sz="1600" b="0">
                <a:solidFill>
                  <a:srgbClr val="F5F9FF"/>
                </a:solidFill>
                <a:latin typeface="Aptos"/>
              </a:defRPr>
            </a:pPr>
            <a:r>
              <a:t>Unusual addresses or communication patterns</a:t>
            </a:r>
          </a:p>
        </p:txBody>
      </p:sp>
      <p:sp>
        <p:nvSpPr>
          <p:cNvPr id="18" name="Rounded Rectangle 17"/>
          <p:cNvSpPr/>
          <p:nvPr/>
        </p:nvSpPr>
        <p:spPr>
          <a:xfrm>
            <a:off x="6217920" y="3657600"/>
            <a:ext cx="5120640" cy="160020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657600"/>
            <a:ext cx="73152" cy="1600200"/>
          </a:xfrm>
          <a:prstGeom prst="rect">
            <a:avLst/>
          </a:prstGeom>
          <a:solidFill>
            <a:srgbClr val="51D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822191"/>
            <a:ext cx="4709159" cy="347472"/>
          </a:xfrm>
          <a:prstGeom prst="rect">
            <a:avLst/>
          </a:prstGeom>
          <a:noFill/>
        </p:spPr>
        <p:txBody>
          <a:bodyPr wrap="square">
            <a:spAutoFit/>
          </a:bodyPr>
          <a:lstStyle/>
          <a:p>
            <a:pPr>
              <a:spcAft>
                <a:spcPts val="900"/>
              </a:spcAft>
              <a:defRPr sz="1700" b="1">
                <a:solidFill>
                  <a:srgbClr val="51D294"/>
                </a:solidFill>
                <a:latin typeface="Aptos"/>
              </a:defRPr>
            </a:pPr>
            <a:r>
              <a:t>Protocol &amp; duration</a:t>
            </a:r>
          </a:p>
        </p:txBody>
      </p:sp>
      <p:sp>
        <p:nvSpPr>
          <p:cNvPr id="21" name="TextBox 20"/>
          <p:cNvSpPr txBox="1"/>
          <p:nvPr/>
        </p:nvSpPr>
        <p:spPr>
          <a:xfrm>
            <a:off x="6446520" y="4279392"/>
            <a:ext cx="4709159" cy="886968"/>
          </a:xfrm>
          <a:prstGeom prst="rect">
            <a:avLst/>
          </a:prstGeom>
          <a:noFill/>
        </p:spPr>
        <p:txBody>
          <a:bodyPr wrap="square">
            <a:spAutoFit/>
          </a:bodyPr>
          <a:lstStyle/>
          <a:p>
            <a:pPr>
              <a:spcAft>
                <a:spcPts val="900"/>
              </a:spcAft>
              <a:defRPr sz="1600" b="0">
                <a:solidFill>
                  <a:srgbClr val="F5F9FF"/>
                </a:solidFill>
                <a:latin typeface="Aptos"/>
              </a:defRPr>
            </a:pPr>
            <a:r>
              <a:t>Unexpected protocol use or connection length</a:t>
            </a:r>
          </a:p>
        </p:txBody>
      </p:sp>
      <p:sp>
        <p:nvSpPr>
          <p:cNvPr id="22" name="TextBox 21"/>
          <p:cNvSpPr txBox="1"/>
          <p:nvPr/>
        </p:nvSpPr>
        <p:spPr>
          <a:xfrm>
            <a:off x="914400" y="5897880"/>
            <a:ext cx="10332720" cy="320040"/>
          </a:xfrm>
          <a:prstGeom prst="rect">
            <a:avLst/>
          </a:prstGeom>
          <a:noFill/>
        </p:spPr>
        <p:txBody>
          <a:bodyPr wrap="square">
            <a:spAutoFit/>
          </a:bodyPr>
          <a:lstStyle/>
          <a:p>
            <a:pPr>
              <a:spcAft>
                <a:spcPts val="900"/>
              </a:spcAft>
              <a:defRPr sz="1200" b="0">
                <a:solidFill>
                  <a:srgbClr val="B8CCDE"/>
                </a:solidFill>
                <a:latin typeface="Aptos"/>
              </a:defRPr>
            </a:pPr>
            <a:r>
              <a:t>These indicators are examples; detection quality depends on the data and detection method.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183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66928"/>
          </a:xfrm>
          <a:prstGeom prst="rect">
            <a:avLst/>
          </a:prstGeom>
          <a:noFill/>
        </p:spPr>
        <p:txBody>
          <a:bodyPr wrap="none">
            <a:spAutoFit/>
          </a:bodyPr>
          <a:lstStyle/>
          <a:p>
            <a:pPr>
              <a:defRPr sz="2900" b="1">
                <a:solidFill>
                  <a:srgbClr val="F5F9FF"/>
                </a:solidFill>
                <a:latin typeface="Aptos Display"/>
              </a:defRPr>
            </a:pPr>
            <a:r>
              <a:t>RISK CLASSIFICATION</a:t>
            </a:r>
          </a:p>
        </p:txBody>
      </p:sp>
      <p:sp>
        <p:nvSpPr>
          <p:cNvPr id="4" name="TextBox 3"/>
          <p:cNvSpPr txBox="1"/>
          <p:nvPr/>
        </p:nvSpPr>
        <p:spPr>
          <a:xfrm>
            <a:off x="676656" y="960120"/>
            <a:ext cx="10789920" cy="320040"/>
          </a:xfrm>
          <a:prstGeom prst="rect">
            <a:avLst/>
          </a:prstGeom>
          <a:noFill/>
        </p:spPr>
        <p:txBody>
          <a:bodyPr wrap="none">
            <a:spAutoFit/>
          </a:bodyPr>
          <a:lstStyle/>
          <a:p>
            <a:pPr>
              <a:defRPr sz="1200">
                <a:solidFill>
                  <a:srgbClr val="49D2E1"/>
                </a:solidFill>
                <a:latin typeface="Aptos"/>
              </a:defRPr>
            </a:pPr>
            <a:r>
              <a:t>Simple, readable security status</a:t>
            </a:r>
          </a:p>
        </p:txBody>
      </p:sp>
      <p:sp>
        <p:nvSpPr>
          <p:cNvPr id="5" name="TextBox 4"/>
          <p:cNvSpPr txBox="1"/>
          <p:nvPr/>
        </p:nvSpPr>
        <p:spPr>
          <a:xfrm>
            <a:off x="11155680" y="6473952"/>
            <a:ext cx="457200" cy="182880"/>
          </a:xfrm>
          <a:prstGeom prst="rect">
            <a:avLst/>
          </a:prstGeom>
          <a:noFill/>
        </p:spPr>
        <p:txBody>
          <a:bodyPr wrap="none">
            <a:spAutoFit/>
          </a:bodyPr>
          <a:lstStyle/>
          <a:p>
            <a:pPr algn="r">
              <a:defRPr sz="1000">
                <a:solidFill>
                  <a:srgbClr val="B8CCDE"/>
                </a:solidFill>
              </a:defRPr>
            </a:pPr>
            <a:r>
              <a:t>6</a:t>
            </a:r>
          </a:p>
        </p:txBody>
      </p:sp>
      <p:sp>
        <p:nvSpPr>
          <p:cNvPr id="6" name="Rounded Rectangle 5"/>
          <p:cNvSpPr/>
          <p:nvPr/>
        </p:nvSpPr>
        <p:spPr>
          <a:xfrm>
            <a:off x="731520" y="1600200"/>
            <a:ext cx="3474720" cy="333756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00200"/>
            <a:ext cx="73152" cy="3337560"/>
          </a:xfrm>
          <a:prstGeom prst="rect">
            <a:avLst/>
          </a:prstGeom>
          <a:solidFill>
            <a:srgbClr val="51D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64792"/>
            <a:ext cx="3063239" cy="347472"/>
          </a:xfrm>
          <a:prstGeom prst="rect">
            <a:avLst/>
          </a:prstGeom>
          <a:noFill/>
        </p:spPr>
        <p:txBody>
          <a:bodyPr wrap="square">
            <a:spAutoFit/>
          </a:bodyPr>
          <a:lstStyle/>
          <a:p>
            <a:pPr>
              <a:spcAft>
                <a:spcPts val="900"/>
              </a:spcAft>
              <a:defRPr sz="1700" b="1">
                <a:solidFill>
                  <a:srgbClr val="51D294"/>
                </a:solidFill>
                <a:latin typeface="Aptos"/>
              </a:defRPr>
            </a:pPr>
            <a:r>
              <a:t>NORMAL</a:t>
            </a:r>
          </a:p>
        </p:txBody>
      </p:sp>
      <p:sp>
        <p:nvSpPr>
          <p:cNvPr id="9" name="TextBox 8"/>
          <p:cNvSpPr txBox="1"/>
          <p:nvPr/>
        </p:nvSpPr>
        <p:spPr>
          <a:xfrm>
            <a:off x="960120" y="2221992"/>
            <a:ext cx="3063239" cy="2624328"/>
          </a:xfrm>
          <a:prstGeom prst="rect">
            <a:avLst/>
          </a:prstGeom>
          <a:noFill/>
        </p:spPr>
        <p:txBody>
          <a:bodyPr wrap="square">
            <a:spAutoFit/>
          </a:bodyPr>
          <a:lstStyle/>
          <a:p>
            <a:pPr>
              <a:spcAft>
                <a:spcPts val="900"/>
              </a:spcAft>
              <a:defRPr sz="1800" b="0">
                <a:solidFill>
                  <a:srgbClr val="F5F9FF"/>
                </a:solidFill>
                <a:latin typeface="Aptos"/>
              </a:defRPr>
            </a:pPr>
            <a:r>
              <a:t>Expected or familiar network behaviour.</a:t>
            </a:r>
          </a:p>
          <a:p>
            <a:pPr>
              <a:spcAft>
                <a:spcPts val="900"/>
              </a:spcAft>
              <a:defRPr sz="1800" b="0">
                <a:solidFill>
                  <a:srgbClr val="F5F9FF"/>
                </a:solidFill>
                <a:latin typeface="Aptos"/>
              </a:defRPr>
            </a:pPr>
          </a:p>
          <a:p>
            <a:pPr>
              <a:spcAft>
                <a:spcPts val="900"/>
              </a:spcAft>
              <a:defRPr sz="1800" b="0">
                <a:solidFill>
                  <a:srgbClr val="F5F9FF"/>
                </a:solidFill>
                <a:latin typeface="Aptos"/>
              </a:defRPr>
            </a:pPr>
            <a:r>
              <a:t>Action: continue monitoring.</a:t>
            </a:r>
          </a:p>
        </p:txBody>
      </p:sp>
      <p:sp>
        <p:nvSpPr>
          <p:cNvPr id="10" name="Rounded Rectangle 9"/>
          <p:cNvSpPr/>
          <p:nvPr/>
        </p:nvSpPr>
        <p:spPr>
          <a:xfrm>
            <a:off x="4389120" y="1600200"/>
            <a:ext cx="3474720" cy="333756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600200"/>
            <a:ext cx="73152" cy="3337560"/>
          </a:xfrm>
          <a:prstGeom prst="rect">
            <a:avLst/>
          </a:prstGeom>
          <a:solidFill>
            <a:srgbClr val="FFB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764792"/>
            <a:ext cx="3063239" cy="347472"/>
          </a:xfrm>
          <a:prstGeom prst="rect">
            <a:avLst/>
          </a:prstGeom>
          <a:noFill/>
        </p:spPr>
        <p:txBody>
          <a:bodyPr wrap="square">
            <a:spAutoFit/>
          </a:bodyPr>
          <a:lstStyle/>
          <a:p>
            <a:pPr>
              <a:spcAft>
                <a:spcPts val="900"/>
              </a:spcAft>
              <a:defRPr sz="1700" b="1">
                <a:solidFill>
                  <a:srgbClr val="FFB24A"/>
                </a:solidFill>
                <a:latin typeface="Aptos"/>
              </a:defRPr>
            </a:pPr>
            <a:r>
              <a:t>SUSPICIOUS</a:t>
            </a:r>
          </a:p>
        </p:txBody>
      </p:sp>
      <p:sp>
        <p:nvSpPr>
          <p:cNvPr id="13" name="TextBox 12"/>
          <p:cNvSpPr txBox="1"/>
          <p:nvPr/>
        </p:nvSpPr>
        <p:spPr>
          <a:xfrm>
            <a:off x="4617720" y="2221992"/>
            <a:ext cx="3063239" cy="2624328"/>
          </a:xfrm>
          <a:prstGeom prst="rect">
            <a:avLst/>
          </a:prstGeom>
          <a:noFill/>
        </p:spPr>
        <p:txBody>
          <a:bodyPr wrap="square">
            <a:spAutoFit/>
          </a:bodyPr>
          <a:lstStyle/>
          <a:p>
            <a:pPr>
              <a:spcAft>
                <a:spcPts val="900"/>
              </a:spcAft>
              <a:defRPr sz="1800" b="0">
                <a:solidFill>
                  <a:srgbClr val="F5F9FF"/>
                </a:solidFill>
                <a:latin typeface="Aptos"/>
              </a:defRPr>
            </a:pPr>
            <a:r>
              <a:t>Behaviour differs from the expected pattern.</a:t>
            </a:r>
          </a:p>
          <a:p>
            <a:pPr>
              <a:spcAft>
                <a:spcPts val="900"/>
              </a:spcAft>
              <a:defRPr sz="1800" b="0">
                <a:solidFill>
                  <a:srgbClr val="F5F9FF"/>
                </a:solidFill>
                <a:latin typeface="Aptos"/>
              </a:defRPr>
            </a:pPr>
          </a:p>
          <a:p>
            <a:pPr>
              <a:spcAft>
                <a:spcPts val="900"/>
              </a:spcAft>
              <a:defRPr sz="1800" b="0">
                <a:solidFill>
                  <a:srgbClr val="F5F9FF"/>
                </a:solidFill>
                <a:latin typeface="Aptos"/>
              </a:defRPr>
            </a:pPr>
            <a:r>
              <a:t>Action: review traffic details.</a:t>
            </a:r>
          </a:p>
        </p:txBody>
      </p:sp>
      <p:sp>
        <p:nvSpPr>
          <p:cNvPr id="14" name="Rounded Rectangle 13"/>
          <p:cNvSpPr/>
          <p:nvPr/>
        </p:nvSpPr>
        <p:spPr>
          <a:xfrm>
            <a:off x="8046720" y="1600200"/>
            <a:ext cx="3474720" cy="333756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600200"/>
            <a:ext cx="73152" cy="3337560"/>
          </a:xfrm>
          <a:prstGeom prst="rect">
            <a:avLst/>
          </a:prstGeom>
          <a:solidFill>
            <a:srgbClr val="FF6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764792"/>
            <a:ext cx="3063239" cy="347472"/>
          </a:xfrm>
          <a:prstGeom prst="rect">
            <a:avLst/>
          </a:prstGeom>
          <a:noFill/>
        </p:spPr>
        <p:txBody>
          <a:bodyPr wrap="square">
            <a:spAutoFit/>
          </a:bodyPr>
          <a:lstStyle/>
          <a:p>
            <a:pPr>
              <a:spcAft>
                <a:spcPts val="900"/>
              </a:spcAft>
              <a:defRPr sz="1700" b="1">
                <a:solidFill>
                  <a:srgbClr val="FF6473"/>
                </a:solidFill>
                <a:latin typeface="Aptos"/>
              </a:defRPr>
            </a:pPr>
            <a:r>
              <a:t>HIGH RISK</a:t>
            </a:r>
          </a:p>
        </p:txBody>
      </p:sp>
      <p:sp>
        <p:nvSpPr>
          <p:cNvPr id="17" name="TextBox 16"/>
          <p:cNvSpPr txBox="1"/>
          <p:nvPr/>
        </p:nvSpPr>
        <p:spPr>
          <a:xfrm>
            <a:off x="8275320" y="2221992"/>
            <a:ext cx="3063239" cy="2624328"/>
          </a:xfrm>
          <a:prstGeom prst="rect">
            <a:avLst/>
          </a:prstGeom>
          <a:noFill/>
        </p:spPr>
        <p:txBody>
          <a:bodyPr wrap="square">
            <a:spAutoFit/>
          </a:bodyPr>
          <a:lstStyle/>
          <a:p>
            <a:pPr>
              <a:spcAft>
                <a:spcPts val="900"/>
              </a:spcAft>
              <a:defRPr sz="1700" b="0">
                <a:solidFill>
                  <a:srgbClr val="F5F9FF"/>
                </a:solidFill>
                <a:latin typeface="Aptos"/>
              </a:defRPr>
            </a:pPr>
            <a:r>
              <a:t>Strong signs of abnormal activity.</a:t>
            </a:r>
          </a:p>
          <a:p>
            <a:pPr>
              <a:spcAft>
                <a:spcPts val="900"/>
              </a:spcAft>
              <a:defRPr sz="1700" b="0">
                <a:solidFill>
                  <a:srgbClr val="F5F9FF"/>
                </a:solidFill>
                <a:latin typeface="Aptos"/>
              </a:defRPr>
            </a:pPr>
          </a:p>
          <a:p>
            <a:pPr>
              <a:spcAft>
                <a:spcPts val="900"/>
              </a:spcAft>
              <a:defRPr sz="1700" b="0">
                <a:solidFill>
                  <a:srgbClr val="F5F9FF"/>
                </a:solidFill>
                <a:latin typeface="Aptos"/>
              </a:defRPr>
            </a:pPr>
            <a:r>
              <a:t>Action: investigate promptly and follow approved response steps.</a:t>
            </a:r>
          </a:p>
        </p:txBody>
      </p:sp>
      <p:sp>
        <p:nvSpPr>
          <p:cNvPr id="18" name="TextBox 17"/>
          <p:cNvSpPr txBox="1"/>
          <p:nvPr/>
        </p:nvSpPr>
        <p:spPr>
          <a:xfrm>
            <a:off x="914400" y="5486400"/>
            <a:ext cx="10241280" cy="411480"/>
          </a:xfrm>
          <a:prstGeom prst="rect">
            <a:avLst/>
          </a:prstGeom>
          <a:noFill/>
        </p:spPr>
        <p:txBody>
          <a:bodyPr wrap="square">
            <a:spAutoFit/>
          </a:bodyPr>
          <a:lstStyle/>
          <a:p>
            <a:pPr algn="ctr">
              <a:spcAft>
                <a:spcPts val="900"/>
              </a:spcAft>
              <a:defRPr sz="1400" b="0">
                <a:solidFill>
                  <a:srgbClr val="B8CCDE"/>
                </a:solidFill>
                <a:latin typeface="Aptos"/>
              </a:defRPr>
            </a:pPr>
            <a:r>
              <a:t>Risk labels support human review; an alert is not proof that an attack occurred.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183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66928"/>
          </a:xfrm>
          <a:prstGeom prst="rect">
            <a:avLst/>
          </a:prstGeom>
          <a:noFill/>
        </p:spPr>
        <p:txBody>
          <a:bodyPr wrap="none">
            <a:spAutoFit/>
          </a:bodyPr>
          <a:lstStyle/>
          <a:p>
            <a:pPr>
              <a:defRPr sz="2900" b="1">
                <a:solidFill>
                  <a:srgbClr val="F5F9FF"/>
                </a:solidFill>
                <a:latin typeface="Aptos Display"/>
              </a:defRPr>
            </a:pPr>
            <a:r>
              <a:t>SECURITY DASHBOARD — SAMPLE VIEW</a:t>
            </a:r>
          </a:p>
        </p:txBody>
      </p:sp>
      <p:sp>
        <p:nvSpPr>
          <p:cNvPr id="4" name="TextBox 3"/>
          <p:cNvSpPr txBox="1"/>
          <p:nvPr/>
        </p:nvSpPr>
        <p:spPr>
          <a:xfrm>
            <a:off x="676656" y="960120"/>
            <a:ext cx="10789920" cy="320040"/>
          </a:xfrm>
          <a:prstGeom prst="rect">
            <a:avLst/>
          </a:prstGeom>
          <a:noFill/>
        </p:spPr>
        <p:txBody>
          <a:bodyPr wrap="none">
            <a:spAutoFit/>
          </a:bodyPr>
          <a:lstStyle/>
          <a:p>
            <a:pPr>
              <a:defRPr sz="1200">
                <a:solidFill>
                  <a:srgbClr val="49D2E1"/>
                </a:solidFill>
                <a:latin typeface="Aptos"/>
              </a:defRPr>
            </a:pPr>
            <a:r>
              <a:t>Illustrative values for presentation only</a:t>
            </a:r>
          </a:p>
        </p:txBody>
      </p:sp>
      <p:sp>
        <p:nvSpPr>
          <p:cNvPr id="5" name="TextBox 4"/>
          <p:cNvSpPr txBox="1"/>
          <p:nvPr/>
        </p:nvSpPr>
        <p:spPr>
          <a:xfrm>
            <a:off x="11155680" y="6473952"/>
            <a:ext cx="457200" cy="182880"/>
          </a:xfrm>
          <a:prstGeom prst="rect">
            <a:avLst/>
          </a:prstGeom>
          <a:noFill/>
        </p:spPr>
        <p:txBody>
          <a:bodyPr wrap="none">
            <a:spAutoFit/>
          </a:bodyPr>
          <a:lstStyle/>
          <a:p>
            <a:pPr algn="r">
              <a:defRPr sz="1000">
                <a:solidFill>
                  <a:srgbClr val="B8CCDE"/>
                </a:solidFill>
              </a:defRPr>
            </a:pPr>
            <a:r>
              <a:t>7</a:t>
            </a:r>
          </a:p>
        </p:txBody>
      </p:sp>
      <p:sp>
        <p:nvSpPr>
          <p:cNvPr id="6" name="Rounded Rectangle 5"/>
          <p:cNvSpPr/>
          <p:nvPr/>
        </p:nvSpPr>
        <p:spPr>
          <a:xfrm>
            <a:off x="685800" y="1600200"/>
            <a:ext cx="2514600" cy="1417320"/>
          </a:xfrm>
          <a:prstGeom prst="roundRect">
            <a:avLst/>
          </a:prstGeom>
          <a:solidFill>
            <a:srgbClr val="0D2742"/>
          </a:solidFill>
          <a:ln>
            <a:solidFill>
              <a:srgbClr val="2350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810512"/>
            <a:ext cx="2286000" cy="274320"/>
          </a:xfrm>
          <a:prstGeom prst="rect">
            <a:avLst/>
          </a:prstGeom>
          <a:noFill/>
        </p:spPr>
        <p:txBody>
          <a:bodyPr wrap="square">
            <a:spAutoFit/>
          </a:bodyPr>
          <a:lstStyle/>
          <a:p>
            <a:pPr algn="ctr">
              <a:spcAft>
                <a:spcPts val="900"/>
              </a:spcAft>
              <a:defRPr sz="1200" b="1">
                <a:solidFill>
                  <a:srgbClr val="49D2E1"/>
                </a:solidFill>
                <a:latin typeface="Aptos"/>
              </a:defRPr>
            </a:pPr>
            <a:r>
              <a:t>TOTAL DEVICES</a:t>
            </a:r>
          </a:p>
        </p:txBody>
      </p:sp>
      <p:sp>
        <p:nvSpPr>
          <p:cNvPr id="8" name="TextBox 7"/>
          <p:cNvSpPr txBox="1"/>
          <p:nvPr/>
        </p:nvSpPr>
        <p:spPr>
          <a:xfrm>
            <a:off x="795528" y="2148840"/>
            <a:ext cx="2286000" cy="548640"/>
          </a:xfrm>
          <a:prstGeom prst="rect">
            <a:avLst/>
          </a:prstGeom>
          <a:noFill/>
        </p:spPr>
        <p:txBody>
          <a:bodyPr wrap="square">
            <a:spAutoFit/>
          </a:bodyPr>
          <a:lstStyle/>
          <a:p>
            <a:pPr algn="ctr">
              <a:spcAft>
                <a:spcPts val="900"/>
              </a:spcAft>
              <a:defRPr sz="3000" b="1">
                <a:solidFill>
                  <a:srgbClr val="F5F9FF"/>
                </a:solidFill>
                <a:latin typeface="Aptos"/>
              </a:defRPr>
            </a:pPr>
            <a:r>
              <a:t>250</a:t>
            </a:r>
          </a:p>
        </p:txBody>
      </p:sp>
      <p:sp>
        <p:nvSpPr>
          <p:cNvPr id="9" name="Rounded Rectangle 8"/>
          <p:cNvSpPr/>
          <p:nvPr/>
        </p:nvSpPr>
        <p:spPr>
          <a:xfrm>
            <a:off x="3520440" y="1600200"/>
            <a:ext cx="2514600" cy="1417320"/>
          </a:xfrm>
          <a:prstGeom prst="roundRect">
            <a:avLst/>
          </a:prstGeom>
          <a:solidFill>
            <a:srgbClr val="0D2742"/>
          </a:solidFill>
          <a:ln>
            <a:solidFill>
              <a:srgbClr val="2350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0168" y="1810512"/>
            <a:ext cx="2286000" cy="274320"/>
          </a:xfrm>
          <a:prstGeom prst="rect">
            <a:avLst/>
          </a:prstGeom>
          <a:noFill/>
        </p:spPr>
        <p:txBody>
          <a:bodyPr wrap="square">
            <a:spAutoFit/>
          </a:bodyPr>
          <a:lstStyle/>
          <a:p>
            <a:pPr algn="ctr">
              <a:spcAft>
                <a:spcPts val="900"/>
              </a:spcAft>
              <a:defRPr sz="1200" b="1">
                <a:solidFill>
                  <a:srgbClr val="51D294"/>
                </a:solidFill>
                <a:latin typeface="Aptos"/>
              </a:defRPr>
            </a:pPr>
            <a:r>
              <a:t>NORMAL</a:t>
            </a:r>
          </a:p>
        </p:txBody>
      </p:sp>
      <p:sp>
        <p:nvSpPr>
          <p:cNvPr id="11" name="TextBox 10"/>
          <p:cNvSpPr txBox="1"/>
          <p:nvPr/>
        </p:nvSpPr>
        <p:spPr>
          <a:xfrm>
            <a:off x="3630168" y="2148840"/>
            <a:ext cx="2286000" cy="548640"/>
          </a:xfrm>
          <a:prstGeom prst="rect">
            <a:avLst/>
          </a:prstGeom>
          <a:noFill/>
        </p:spPr>
        <p:txBody>
          <a:bodyPr wrap="square">
            <a:spAutoFit/>
          </a:bodyPr>
          <a:lstStyle/>
          <a:p>
            <a:pPr algn="ctr">
              <a:spcAft>
                <a:spcPts val="900"/>
              </a:spcAft>
              <a:defRPr sz="3000" b="1">
                <a:solidFill>
                  <a:srgbClr val="F5F9FF"/>
                </a:solidFill>
                <a:latin typeface="Aptos"/>
              </a:defRPr>
            </a:pPr>
            <a:r>
              <a:t>218</a:t>
            </a:r>
          </a:p>
        </p:txBody>
      </p:sp>
      <p:sp>
        <p:nvSpPr>
          <p:cNvPr id="12" name="Rounded Rectangle 11"/>
          <p:cNvSpPr/>
          <p:nvPr/>
        </p:nvSpPr>
        <p:spPr>
          <a:xfrm>
            <a:off x="6355080" y="1600200"/>
            <a:ext cx="2514600" cy="1417320"/>
          </a:xfrm>
          <a:prstGeom prst="roundRect">
            <a:avLst/>
          </a:prstGeom>
          <a:solidFill>
            <a:srgbClr val="0D2742"/>
          </a:solidFill>
          <a:ln>
            <a:solidFill>
              <a:srgbClr val="2350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8" y="1810512"/>
            <a:ext cx="2286000" cy="274320"/>
          </a:xfrm>
          <a:prstGeom prst="rect">
            <a:avLst/>
          </a:prstGeom>
          <a:noFill/>
        </p:spPr>
        <p:txBody>
          <a:bodyPr wrap="square">
            <a:spAutoFit/>
          </a:bodyPr>
          <a:lstStyle/>
          <a:p>
            <a:pPr algn="ctr">
              <a:spcAft>
                <a:spcPts val="900"/>
              </a:spcAft>
              <a:defRPr sz="1200" b="1">
                <a:solidFill>
                  <a:srgbClr val="FFB24A"/>
                </a:solidFill>
                <a:latin typeface="Aptos"/>
              </a:defRPr>
            </a:pPr>
            <a:r>
              <a:t>SUSPICIOUS</a:t>
            </a:r>
          </a:p>
        </p:txBody>
      </p:sp>
      <p:sp>
        <p:nvSpPr>
          <p:cNvPr id="14" name="TextBox 13"/>
          <p:cNvSpPr txBox="1"/>
          <p:nvPr/>
        </p:nvSpPr>
        <p:spPr>
          <a:xfrm>
            <a:off x="6464808" y="2148840"/>
            <a:ext cx="2286000" cy="548640"/>
          </a:xfrm>
          <a:prstGeom prst="rect">
            <a:avLst/>
          </a:prstGeom>
          <a:noFill/>
        </p:spPr>
        <p:txBody>
          <a:bodyPr wrap="square">
            <a:spAutoFit/>
          </a:bodyPr>
          <a:lstStyle/>
          <a:p>
            <a:pPr algn="ctr">
              <a:spcAft>
                <a:spcPts val="900"/>
              </a:spcAft>
              <a:defRPr sz="3000" b="1">
                <a:solidFill>
                  <a:srgbClr val="F5F9FF"/>
                </a:solidFill>
                <a:latin typeface="Aptos"/>
              </a:defRPr>
            </a:pPr>
            <a:r>
              <a:t>24</a:t>
            </a:r>
          </a:p>
        </p:txBody>
      </p:sp>
      <p:sp>
        <p:nvSpPr>
          <p:cNvPr id="15" name="Rounded Rectangle 14"/>
          <p:cNvSpPr/>
          <p:nvPr/>
        </p:nvSpPr>
        <p:spPr>
          <a:xfrm>
            <a:off x="9189720" y="1600200"/>
            <a:ext cx="2514600" cy="1417320"/>
          </a:xfrm>
          <a:prstGeom prst="roundRect">
            <a:avLst/>
          </a:prstGeom>
          <a:solidFill>
            <a:srgbClr val="0D2742"/>
          </a:solidFill>
          <a:ln>
            <a:solidFill>
              <a:srgbClr val="2350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99448" y="1810512"/>
            <a:ext cx="2286000" cy="274320"/>
          </a:xfrm>
          <a:prstGeom prst="rect">
            <a:avLst/>
          </a:prstGeom>
          <a:noFill/>
        </p:spPr>
        <p:txBody>
          <a:bodyPr wrap="square">
            <a:spAutoFit/>
          </a:bodyPr>
          <a:lstStyle/>
          <a:p>
            <a:pPr algn="ctr">
              <a:spcAft>
                <a:spcPts val="900"/>
              </a:spcAft>
              <a:defRPr sz="1200" b="1">
                <a:solidFill>
                  <a:srgbClr val="FF6473"/>
                </a:solidFill>
                <a:latin typeface="Aptos"/>
              </a:defRPr>
            </a:pPr>
            <a:r>
              <a:t>HIGH RISK</a:t>
            </a:r>
          </a:p>
        </p:txBody>
      </p:sp>
      <p:sp>
        <p:nvSpPr>
          <p:cNvPr id="17" name="TextBox 16"/>
          <p:cNvSpPr txBox="1"/>
          <p:nvPr/>
        </p:nvSpPr>
        <p:spPr>
          <a:xfrm>
            <a:off x="9299448" y="2148840"/>
            <a:ext cx="2286000" cy="548640"/>
          </a:xfrm>
          <a:prstGeom prst="rect">
            <a:avLst/>
          </a:prstGeom>
          <a:noFill/>
        </p:spPr>
        <p:txBody>
          <a:bodyPr wrap="square">
            <a:spAutoFit/>
          </a:bodyPr>
          <a:lstStyle/>
          <a:p>
            <a:pPr algn="ctr">
              <a:spcAft>
                <a:spcPts val="900"/>
              </a:spcAft>
              <a:defRPr sz="3000" b="1">
                <a:solidFill>
                  <a:srgbClr val="F5F9FF"/>
                </a:solidFill>
                <a:latin typeface="Aptos"/>
              </a:defRPr>
            </a:pPr>
            <a:r>
              <a:t>8</a:t>
            </a:r>
          </a:p>
        </p:txBody>
      </p:sp>
      <p:sp>
        <p:nvSpPr>
          <p:cNvPr id="18" name="Rounded Rectangle 17"/>
          <p:cNvSpPr/>
          <p:nvPr/>
        </p:nvSpPr>
        <p:spPr>
          <a:xfrm>
            <a:off x="777240" y="3429000"/>
            <a:ext cx="5120640" cy="169164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3429000"/>
            <a:ext cx="73152" cy="1691640"/>
          </a:xfrm>
          <a:prstGeom prst="rect">
            <a:avLst/>
          </a:prstGeom>
          <a:solidFill>
            <a:srgbClr val="FFB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593592"/>
            <a:ext cx="4709159" cy="347472"/>
          </a:xfrm>
          <a:prstGeom prst="rect">
            <a:avLst/>
          </a:prstGeom>
          <a:noFill/>
        </p:spPr>
        <p:txBody>
          <a:bodyPr wrap="square">
            <a:spAutoFit/>
          </a:bodyPr>
          <a:lstStyle/>
          <a:p>
            <a:pPr>
              <a:spcAft>
                <a:spcPts val="900"/>
              </a:spcAft>
              <a:defRPr sz="1700" b="1">
                <a:solidFill>
                  <a:srgbClr val="FFB24A"/>
                </a:solidFill>
                <a:latin typeface="Aptos"/>
              </a:defRPr>
            </a:pPr>
            <a:r>
              <a:t>NETWORK RISK SCORE</a:t>
            </a:r>
          </a:p>
        </p:txBody>
      </p:sp>
      <p:sp>
        <p:nvSpPr>
          <p:cNvPr id="21" name="TextBox 20"/>
          <p:cNvSpPr txBox="1"/>
          <p:nvPr/>
        </p:nvSpPr>
        <p:spPr>
          <a:xfrm>
            <a:off x="1005840" y="4050791"/>
            <a:ext cx="4709159" cy="978408"/>
          </a:xfrm>
          <a:prstGeom prst="rect">
            <a:avLst/>
          </a:prstGeom>
          <a:noFill/>
        </p:spPr>
        <p:txBody>
          <a:bodyPr wrap="square">
            <a:spAutoFit/>
          </a:bodyPr>
          <a:lstStyle/>
          <a:p>
            <a:pPr>
              <a:spcAft>
                <a:spcPts val="900"/>
              </a:spcAft>
              <a:defRPr sz="1700" b="0">
                <a:solidFill>
                  <a:srgbClr val="F5F9FF"/>
                </a:solidFill>
                <a:latin typeface="Aptos"/>
              </a:defRPr>
            </a:pPr>
            <a:r>
              <a:t>73 / 100</a:t>
            </a:r>
          </a:p>
          <a:p>
            <a:pPr>
              <a:spcAft>
                <a:spcPts val="900"/>
              </a:spcAft>
              <a:defRPr sz="1700" b="0">
                <a:solidFill>
                  <a:srgbClr val="F5F9FF"/>
                </a:solidFill>
                <a:latin typeface="Aptos"/>
              </a:defRPr>
            </a:pPr>
            <a:r>
              <a:t>Example score to demonstrate a dashboard indicator.</a:t>
            </a:r>
          </a:p>
        </p:txBody>
      </p:sp>
      <p:sp>
        <p:nvSpPr>
          <p:cNvPr id="22" name="Rounded Rectangle 21"/>
          <p:cNvSpPr/>
          <p:nvPr/>
        </p:nvSpPr>
        <p:spPr>
          <a:xfrm>
            <a:off x="6217920" y="3429000"/>
            <a:ext cx="5120640" cy="169164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3429000"/>
            <a:ext cx="73152" cy="1691640"/>
          </a:xfrm>
          <a:prstGeom prst="rect">
            <a:avLst/>
          </a:prstGeom>
          <a:solidFill>
            <a:srgbClr val="FF64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3593592"/>
            <a:ext cx="4709159" cy="347472"/>
          </a:xfrm>
          <a:prstGeom prst="rect">
            <a:avLst/>
          </a:prstGeom>
          <a:noFill/>
        </p:spPr>
        <p:txBody>
          <a:bodyPr wrap="square">
            <a:spAutoFit/>
          </a:bodyPr>
          <a:lstStyle/>
          <a:p>
            <a:pPr>
              <a:spcAft>
                <a:spcPts val="900"/>
              </a:spcAft>
              <a:defRPr sz="1700" b="1">
                <a:solidFill>
                  <a:srgbClr val="FF6473"/>
                </a:solidFill>
                <a:latin typeface="Aptos"/>
              </a:defRPr>
            </a:pPr>
            <a:r>
              <a:t>RECENT ALERT</a:t>
            </a:r>
          </a:p>
        </p:txBody>
      </p:sp>
      <p:sp>
        <p:nvSpPr>
          <p:cNvPr id="25" name="TextBox 24"/>
          <p:cNvSpPr txBox="1"/>
          <p:nvPr/>
        </p:nvSpPr>
        <p:spPr>
          <a:xfrm>
            <a:off x="6446520" y="4050791"/>
            <a:ext cx="4709159" cy="978408"/>
          </a:xfrm>
          <a:prstGeom prst="rect">
            <a:avLst/>
          </a:prstGeom>
          <a:noFill/>
        </p:spPr>
        <p:txBody>
          <a:bodyPr wrap="square">
            <a:spAutoFit/>
          </a:bodyPr>
          <a:lstStyle/>
          <a:p>
            <a:pPr>
              <a:spcAft>
                <a:spcPts val="900"/>
              </a:spcAft>
              <a:defRPr sz="1700" b="0">
                <a:solidFill>
                  <a:srgbClr val="F5F9FF"/>
                </a:solidFill>
                <a:latin typeface="Aptos"/>
              </a:defRPr>
            </a:pPr>
            <a:r>
              <a:t>Device activity flagged for unusual traffic volume and connection frequency.</a:t>
            </a:r>
          </a:p>
        </p:txBody>
      </p:sp>
      <p:sp>
        <p:nvSpPr>
          <p:cNvPr id="26" name="TextBox 25"/>
          <p:cNvSpPr txBox="1"/>
          <p:nvPr/>
        </p:nvSpPr>
        <p:spPr>
          <a:xfrm>
            <a:off x="914400" y="5806440"/>
            <a:ext cx="10149840" cy="274320"/>
          </a:xfrm>
          <a:prstGeom prst="rect">
            <a:avLst/>
          </a:prstGeom>
          <a:noFill/>
        </p:spPr>
        <p:txBody>
          <a:bodyPr wrap="square">
            <a:spAutoFit/>
          </a:bodyPr>
          <a:lstStyle/>
          <a:p>
            <a:pPr algn="ctr">
              <a:spcAft>
                <a:spcPts val="900"/>
              </a:spcAft>
              <a:defRPr sz="1200" b="0">
                <a:solidFill>
                  <a:srgbClr val="B8CCDE"/>
                </a:solidFill>
                <a:latin typeface="Aptos"/>
              </a:defRPr>
            </a:pPr>
            <a:r>
              <a:t>All counts and scores on this slide are mock demonstration data, not live network measurements.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183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66928"/>
          </a:xfrm>
          <a:prstGeom prst="rect">
            <a:avLst/>
          </a:prstGeom>
          <a:noFill/>
        </p:spPr>
        <p:txBody>
          <a:bodyPr wrap="none">
            <a:spAutoFit/>
          </a:bodyPr>
          <a:lstStyle/>
          <a:p>
            <a:pPr>
              <a:defRPr sz="2900" b="1">
                <a:solidFill>
                  <a:srgbClr val="F5F9FF"/>
                </a:solidFill>
                <a:latin typeface="Aptos Display"/>
              </a:defRPr>
            </a:pPr>
            <a:r>
              <a:t>FRONTEND &amp; BACKEND EXPLANATION</a:t>
            </a:r>
          </a:p>
        </p:txBody>
      </p:sp>
      <p:sp>
        <p:nvSpPr>
          <p:cNvPr id="4" name="TextBox 3"/>
          <p:cNvSpPr txBox="1"/>
          <p:nvPr/>
        </p:nvSpPr>
        <p:spPr>
          <a:xfrm>
            <a:off x="676656" y="960120"/>
            <a:ext cx="10789920" cy="320040"/>
          </a:xfrm>
          <a:prstGeom prst="rect">
            <a:avLst/>
          </a:prstGeom>
          <a:noFill/>
        </p:spPr>
        <p:txBody>
          <a:bodyPr wrap="none">
            <a:spAutoFit/>
          </a:bodyPr>
          <a:lstStyle/>
          <a:p>
            <a:pPr>
              <a:defRPr sz="1200">
                <a:solidFill>
                  <a:srgbClr val="49D2E1"/>
                </a:solidFill>
                <a:latin typeface="Aptos"/>
              </a:defRPr>
            </a:pPr>
            <a:r>
              <a:t>How the parts work together — no code required</a:t>
            </a:r>
          </a:p>
        </p:txBody>
      </p:sp>
      <p:sp>
        <p:nvSpPr>
          <p:cNvPr id="5" name="TextBox 4"/>
          <p:cNvSpPr txBox="1"/>
          <p:nvPr/>
        </p:nvSpPr>
        <p:spPr>
          <a:xfrm>
            <a:off x="11155680" y="6473952"/>
            <a:ext cx="457200" cy="182880"/>
          </a:xfrm>
          <a:prstGeom prst="rect">
            <a:avLst/>
          </a:prstGeom>
          <a:noFill/>
        </p:spPr>
        <p:txBody>
          <a:bodyPr wrap="none">
            <a:spAutoFit/>
          </a:bodyPr>
          <a:lstStyle/>
          <a:p>
            <a:pPr algn="r">
              <a:defRPr sz="1000">
                <a:solidFill>
                  <a:srgbClr val="B8CCDE"/>
                </a:solidFill>
              </a:defRPr>
            </a:pPr>
            <a:r>
              <a:t>8</a:t>
            </a:r>
          </a:p>
        </p:txBody>
      </p:sp>
      <p:sp>
        <p:nvSpPr>
          <p:cNvPr id="6" name="Rounded Rectangle 5"/>
          <p:cNvSpPr/>
          <p:nvPr/>
        </p:nvSpPr>
        <p:spPr>
          <a:xfrm>
            <a:off x="731520" y="1508760"/>
            <a:ext cx="5257800" cy="434340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08760"/>
            <a:ext cx="73152" cy="4343400"/>
          </a:xfrm>
          <a:prstGeom prst="rect">
            <a:avLst/>
          </a:prstGeom>
          <a:solidFill>
            <a:srgbClr val="49D2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73351"/>
            <a:ext cx="4846320" cy="347472"/>
          </a:xfrm>
          <a:prstGeom prst="rect">
            <a:avLst/>
          </a:prstGeom>
          <a:noFill/>
        </p:spPr>
        <p:txBody>
          <a:bodyPr wrap="square">
            <a:spAutoFit/>
          </a:bodyPr>
          <a:lstStyle/>
          <a:p>
            <a:pPr>
              <a:spcAft>
                <a:spcPts val="900"/>
              </a:spcAft>
              <a:defRPr sz="1700" b="1">
                <a:solidFill>
                  <a:srgbClr val="49D2E1"/>
                </a:solidFill>
                <a:latin typeface="Aptos"/>
              </a:defRPr>
            </a:pPr>
            <a:r>
              <a:t>FRONTEND  |  What the user sees</a:t>
            </a:r>
          </a:p>
        </p:txBody>
      </p:sp>
      <p:sp>
        <p:nvSpPr>
          <p:cNvPr id="9" name="TextBox 8"/>
          <p:cNvSpPr txBox="1"/>
          <p:nvPr/>
        </p:nvSpPr>
        <p:spPr>
          <a:xfrm>
            <a:off x="960120" y="2130552"/>
            <a:ext cx="4846320" cy="3630168"/>
          </a:xfrm>
          <a:prstGeom prst="rect">
            <a:avLst/>
          </a:prstGeom>
          <a:noFill/>
        </p:spPr>
        <p:txBody>
          <a:bodyPr wrap="square">
            <a:spAutoFit/>
          </a:bodyPr>
          <a:lstStyle/>
          <a:p>
            <a:pPr>
              <a:spcAft>
                <a:spcPts val="900"/>
              </a:spcAft>
              <a:defRPr sz="1600" b="0">
                <a:solidFill>
                  <a:srgbClr val="F5F9FF"/>
                </a:solidFill>
                <a:latin typeface="Aptos"/>
              </a:defRPr>
            </a:pPr>
            <a:r>
              <a:t>• Security dashboard screen</a:t>
            </a:r>
          </a:p>
          <a:p>
            <a:pPr>
              <a:spcAft>
                <a:spcPts val="900"/>
              </a:spcAft>
              <a:defRPr sz="1600" b="0">
                <a:solidFill>
                  <a:srgbClr val="F5F9FF"/>
                </a:solidFill>
                <a:latin typeface="Aptos"/>
              </a:defRPr>
            </a:pPr>
            <a:r>
              <a:t>• Device / traffic summary cards</a:t>
            </a:r>
          </a:p>
          <a:p>
            <a:pPr>
              <a:spcAft>
                <a:spcPts val="900"/>
              </a:spcAft>
              <a:defRPr sz="1600" b="0">
                <a:solidFill>
                  <a:srgbClr val="F5F9FF"/>
                </a:solidFill>
                <a:latin typeface="Aptos"/>
              </a:defRPr>
            </a:pPr>
            <a:r>
              <a:t>• Charts and risk-level indicators</a:t>
            </a:r>
          </a:p>
          <a:p>
            <a:pPr>
              <a:spcAft>
                <a:spcPts val="900"/>
              </a:spcAft>
              <a:defRPr sz="1600" b="0">
                <a:solidFill>
                  <a:srgbClr val="F5F9FF"/>
                </a:solidFill>
                <a:latin typeface="Aptos"/>
              </a:defRPr>
            </a:pPr>
            <a:r>
              <a:t>• Alert list with reason for each alert</a:t>
            </a:r>
          </a:p>
          <a:p>
            <a:pPr>
              <a:spcAft>
                <a:spcPts val="900"/>
              </a:spcAft>
              <a:defRPr sz="1600" b="0">
                <a:solidFill>
                  <a:srgbClr val="F5F9FF"/>
                </a:solidFill>
                <a:latin typeface="Aptos"/>
              </a:defRPr>
            </a:pPr>
            <a:r>
              <a:t>• Filters to review suspicious activity</a:t>
            </a:r>
          </a:p>
          <a:p>
            <a:pPr>
              <a:spcAft>
                <a:spcPts val="900"/>
              </a:spcAft>
              <a:defRPr sz="1600" b="0">
                <a:solidFill>
                  <a:srgbClr val="F5F9FF"/>
                </a:solidFill>
                <a:latin typeface="Aptos"/>
              </a:defRPr>
            </a:pPr>
          </a:p>
          <a:p>
            <a:pPr>
              <a:spcAft>
                <a:spcPts val="900"/>
              </a:spcAft>
              <a:defRPr sz="1600" b="0">
                <a:solidFill>
                  <a:srgbClr val="F5F9FF"/>
                </a:solidFill>
                <a:latin typeface="Aptos"/>
              </a:defRPr>
            </a:pPr>
            <a:r>
              <a:t>Possible tools: HTML, CSS, JavaScript or React; Chart.js for charts.</a:t>
            </a:r>
          </a:p>
        </p:txBody>
      </p:sp>
      <p:sp>
        <p:nvSpPr>
          <p:cNvPr id="10" name="Rounded Rectangle 9"/>
          <p:cNvSpPr/>
          <p:nvPr/>
        </p:nvSpPr>
        <p:spPr>
          <a:xfrm>
            <a:off x="6217920" y="1508760"/>
            <a:ext cx="5257800" cy="434340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508760"/>
            <a:ext cx="73152" cy="4343400"/>
          </a:xfrm>
          <a:prstGeom prst="rect">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673351"/>
            <a:ext cx="4846320" cy="347472"/>
          </a:xfrm>
          <a:prstGeom prst="rect">
            <a:avLst/>
          </a:prstGeom>
          <a:noFill/>
        </p:spPr>
        <p:txBody>
          <a:bodyPr wrap="square">
            <a:spAutoFit/>
          </a:bodyPr>
          <a:lstStyle/>
          <a:p>
            <a:pPr>
              <a:spcAft>
                <a:spcPts val="900"/>
              </a:spcAft>
              <a:defRPr sz="1700" b="1">
                <a:solidFill>
                  <a:srgbClr val="00BEB4"/>
                </a:solidFill>
                <a:latin typeface="Aptos"/>
              </a:defRPr>
            </a:pPr>
            <a:r>
              <a:t>BACKEND  |  What works behind the screen</a:t>
            </a:r>
          </a:p>
        </p:txBody>
      </p:sp>
      <p:sp>
        <p:nvSpPr>
          <p:cNvPr id="13" name="TextBox 12"/>
          <p:cNvSpPr txBox="1"/>
          <p:nvPr/>
        </p:nvSpPr>
        <p:spPr>
          <a:xfrm>
            <a:off x="6446520" y="2130552"/>
            <a:ext cx="4846320" cy="3630168"/>
          </a:xfrm>
          <a:prstGeom prst="rect">
            <a:avLst/>
          </a:prstGeom>
          <a:noFill/>
        </p:spPr>
        <p:txBody>
          <a:bodyPr wrap="square">
            <a:spAutoFit/>
          </a:bodyPr>
          <a:lstStyle/>
          <a:p>
            <a:pPr>
              <a:spcAft>
                <a:spcPts val="900"/>
              </a:spcAft>
              <a:defRPr sz="1600" b="0">
                <a:solidFill>
                  <a:srgbClr val="F5F9FF"/>
                </a:solidFill>
                <a:latin typeface="Aptos"/>
              </a:defRPr>
            </a:pPr>
            <a:r>
              <a:t>• Receives or loads traffic records</a:t>
            </a:r>
          </a:p>
          <a:p>
            <a:pPr>
              <a:spcAft>
                <a:spcPts val="900"/>
              </a:spcAft>
              <a:defRPr sz="1600" b="0">
                <a:solidFill>
                  <a:srgbClr val="F5F9FF"/>
                </a:solidFill>
                <a:latin typeface="Aptos"/>
              </a:defRPr>
            </a:pPr>
            <a:r>
              <a:t>• Prepares useful traffic features</a:t>
            </a:r>
          </a:p>
          <a:p>
            <a:pPr>
              <a:spcAft>
                <a:spcPts val="900"/>
              </a:spcAft>
              <a:defRPr sz="1600" b="0">
                <a:solidFill>
                  <a:srgbClr val="F5F9FF"/>
                </a:solidFill>
                <a:latin typeface="Aptos"/>
              </a:defRPr>
            </a:pPr>
            <a:r>
              <a:t>• Applies rule-based or ML-based detection</a:t>
            </a:r>
          </a:p>
          <a:p>
            <a:pPr>
              <a:spcAft>
                <a:spcPts val="900"/>
              </a:spcAft>
              <a:defRPr sz="1600" b="0">
                <a:solidFill>
                  <a:srgbClr val="F5F9FF"/>
                </a:solidFill>
                <a:latin typeface="Aptos"/>
              </a:defRPr>
            </a:pPr>
            <a:r>
              <a:t>• Calculates a risk level / score</a:t>
            </a:r>
          </a:p>
          <a:p>
            <a:pPr>
              <a:spcAft>
                <a:spcPts val="900"/>
              </a:spcAft>
              <a:defRPr sz="1600" b="0">
                <a:solidFill>
                  <a:srgbClr val="F5F9FF"/>
                </a:solidFill>
                <a:latin typeface="Aptos"/>
              </a:defRPr>
            </a:pPr>
            <a:r>
              <a:t>• Sends results to the dashboard</a:t>
            </a:r>
          </a:p>
          <a:p>
            <a:pPr>
              <a:spcAft>
                <a:spcPts val="900"/>
              </a:spcAft>
              <a:defRPr sz="1600" b="0">
                <a:solidFill>
                  <a:srgbClr val="F5F9FF"/>
                </a:solidFill>
                <a:latin typeface="Aptos"/>
              </a:defRPr>
            </a:pPr>
            <a:r>
              <a:t>• Stores events for later review</a:t>
            </a:r>
          </a:p>
          <a:p>
            <a:pPr>
              <a:spcAft>
                <a:spcPts val="900"/>
              </a:spcAft>
              <a:defRPr sz="1600" b="0">
                <a:solidFill>
                  <a:srgbClr val="F5F9FF"/>
                </a:solidFill>
                <a:latin typeface="Aptos"/>
              </a:defRPr>
            </a:pPr>
          </a:p>
          <a:p>
            <a:pPr>
              <a:spcAft>
                <a:spcPts val="900"/>
              </a:spcAft>
              <a:defRPr sz="1600" b="0">
                <a:solidFill>
                  <a:srgbClr val="F5F9FF"/>
                </a:solidFill>
                <a:latin typeface="Aptos"/>
              </a:defRPr>
            </a:pPr>
            <a:r>
              <a:t>Possible tools: Python with Flask/FastAPI; SQLite or MySQL.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183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66928"/>
          </a:xfrm>
          <a:prstGeom prst="rect">
            <a:avLst/>
          </a:prstGeom>
          <a:noFill/>
        </p:spPr>
        <p:txBody>
          <a:bodyPr wrap="none">
            <a:spAutoFit/>
          </a:bodyPr>
          <a:lstStyle/>
          <a:p>
            <a:pPr>
              <a:defRPr sz="2900" b="1">
                <a:solidFill>
                  <a:srgbClr val="F5F9FF"/>
                </a:solidFill>
                <a:latin typeface="Aptos Display"/>
              </a:defRPr>
            </a:pPr>
            <a:r>
              <a:t>TECHNOLOGY &amp; DATA FLOW</a:t>
            </a:r>
          </a:p>
        </p:txBody>
      </p:sp>
      <p:sp>
        <p:nvSpPr>
          <p:cNvPr id="4" name="TextBox 3"/>
          <p:cNvSpPr txBox="1"/>
          <p:nvPr/>
        </p:nvSpPr>
        <p:spPr>
          <a:xfrm>
            <a:off x="676656" y="960120"/>
            <a:ext cx="10789920" cy="320040"/>
          </a:xfrm>
          <a:prstGeom prst="rect">
            <a:avLst/>
          </a:prstGeom>
          <a:noFill/>
        </p:spPr>
        <p:txBody>
          <a:bodyPr wrap="none">
            <a:spAutoFit/>
          </a:bodyPr>
          <a:lstStyle/>
          <a:p>
            <a:pPr>
              <a:defRPr sz="1200">
                <a:solidFill>
                  <a:srgbClr val="49D2E1"/>
                </a:solidFill>
                <a:latin typeface="Aptos"/>
              </a:defRPr>
            </a:pPr>
            <a:r>
              <a:t>Suggested prototype architecture</a:t>
            </a:r>
          </a:p>
        </p:txBody>
      </p:sp>
      <p:sp>
        <p:nvSpPr>
          <p:cNvPr id="5" name="TextBox 4"/>
          <p:cNvSpPr txBox="1"/>
          <p:nvPr/>
        </p:nvSpPr>
        <p:spPr>
          <a:xfrm>
            <a:off x="11155680" y="6473952"/>
            <a:ext cx="457200" cy="182880"/>
          </a:xfrm>
          <a:prstGeom prst="rect">
            <a:avLst/>
          </a:prstGeom>
          <a:noFill/>
        </p:spPr>
        <p:txBody>
          <a:bodyPr wrap="none">
            <a:spAutoFit/>
          </a:bodyPr>
          <a:lstStyle/>
          <a:p>
            <a:pPr algn="r">
              <a:defRPr sz="1000">
                <a:solidFill>
                  <a:srgbClr val="B8CCDE"/>
                </a:solidFill>
              </a:defRPr>
            </a:pPr>
            <a:r>
              <a:t>9</a:t>
            </a:r>
          </a:p>
        </p:txBody>
      </p:sp>
      <p:sp>
        <p:nvSpPr>
          <p:cNvPr id="6" name="Rounded Rectangle 5"/>
          <p:cNvSpPr/>
          <p:nvPr/>
        </p:nvSpPr>
        <p:spPr>
          <a:xfrm>
            <a:off x="731520" y="1508760"/>
            <a:ext cx="3429000" cy="356616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08760"/>
            <a:ext cx="73152" cy="3566160"/>
          </a:xfrm>
          <a:prstGeom prst="rect">
            <a:avLst/>
          </a:prstGeom>
          <a:solidFill>
            <a:srgbClr val="49D2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73351"/>
            <a:ext cx="3017520" cy="347472"/>
          </a:xfrm>
          <a:prstGeom prst="rect">
            <a:avLst/>
          </a:prstGeom>
          <a:noFill/>
        </p:spPr>
        <p:txBody>
          <a:bodyPr wrap="square">
            <a:spAutoFit/>
          </a:bodyPr>
          <a:lstStyle/>
          <a:p>
            <a:pPr>
              <a:spcAft>
                <a:spcPts val="900"/>
              </a:spcAft>
              <a:defRPr sz="1700" b="1">
                <a:solidFill>
                  <a:srgbClr val="49D2E1"/>
                </a:solidFill>
                <a:latin typeface="Aptos"/>
              </a:defRPr>
            </a:pPr>
            <a:r>
              <a:t>DATA INPUT</a:t>
            </a:r>
          </a:p>
        </p:txBody>
      </p:sp>
      <p:sp>
        <p:nvSpPr>
          <p:cNvPr id="9" name="TextBox 8"/>
          <p:cNvSpPr txBox="1"/>
          <p:nvPr/>
        </p:nvSpPr>
        <p:spPr>
          <a:xfrm>
            <a:off x="960120" y="2130552"/>
            <a:ext cx="3017520" cy="2852928"/>
          </a:xfrm>
          <a:prstGeom prst="rect">
            <a:avLst/>
          </a:prstGeom>
          <a:noFill/>
        </p:spPr>
        <p:txBody>
          <a:bodyPr wrap="square">
            <a:spAutoFit/>
          </a:bodyPr>
          <a:lstStyle/>
          <a:p>
            <a:pPr>
              <a:spcAft>
                <a:spcPts val="900"/>
              </a:spcAft>
              <a:defRPr sz="1500" b="0">
                <a:solidFill>
                  <a:srgbClr val="F5F9FF"/>
                </a:solidFill>
                <a:latin typeface="Aptos"/>
              </a:defRPr>
            </a:pPr>
            <a:r>
              <a:t>Simulated 5G / IoT traffic</a:t>
            </a:r>
          </a:p>
          <a:p>
            <a:pPr>
              <a:spcAft>
                <a:spcPts val="900"/>
              </a:spcAft>
              <a:defRPr sz="1500" b="0">
                <a:solidFill>
                  <a:srgbClr val="F5F9FF"/>
                </a:solidFill>
                <a:latin typeface="Aptos"/>
              </a:defRPr>
            </a:pPr>
          </a:p>
          <a:p>
            <a:pPr>
              <a:spcAft>
                <a:spcPts val="900"/>
              </a:spcAft>
              <a:defRPr sz="1500" b="0">
                <a:solidFill>
                  <a:srgbClr val="F5F9FF"/>
                </a:solidFill>
                <a:latin typeface="Aptos"/>
              </a:defRPr>
            </a:pPr>
            <a:r>
              <a:t>Example fields:</a:t>
            </a:r>
          </a:p>
          <a:p>
            <a:pPr>
              <a:spcAft>
                <a:spcPts val="900"/>
              </a:spcAft>
              <a:defRPr sz="1500" b="0">
                <a:solidFill>
                  <a:srgbClr val="F5F9FF"/>
                </a:solidFill>
                <a:latin typeface="Aptos"/>
              </a:defRPr>
            </a:pPr>
            <a:r>
              <a:t>• Timestamp</a:t>
            </a:r>
          </a:p>
          <a:p>
            <a:pPr>
              <a:spcAft>
                <a:spcPts val="900"/>
              </a:spcAft>
              <a:defRPr sz="1500" b="0">
                <a:solidFill>
                  <a:srgbClr val="F5F9FF"/>
                </a:solidFill>
                <a:latin typeface="Aptos"/>
              </a:defRPr>
            </a:pPr>
            <a:r>
              <a:t>• Source &amp; destination</a:t>
            </a:r>
          </a:p>
          <a:p>
            <a:pPr>
              <a:spcAft>
                <a:spcPts val="900"/>
              </a:spcAft>
              <a:defRPr sz="1500" b="0">
                <a:solidFill>
                  <a:srgbClr val="F5F9FF"/>
                </a:solidFill>
                <a:latin typeface="Aptos"/>
              </a:defRPr>
            </a:pPr>
            <a:r>
              <a:t>• Protocol</a:t>
            </a:r>
          </a:p>
          <a:p>
            <a:pPr>
              <a:spcAft>
                <a:spcPts val="900"/>
              </a:spcAft>
              <a:defRPr sz="1500" b="0">
                <a:solidFill>
                  <a:srgbClr val="F5F9FF"/>
                </a:solidFill>
                <a:latin typeface="Aptos"/>
              </a:defRPr>
            </a:pPr>
            <a:r>
              <a:t>• Packet / byte count</a:t>
            </a:r>
          </a:p>
          <a:p>
            <a:pPr>
              <a:spcAft>
                <a:spcPts val="900"/>
              </a:spcAft>
              <a:defRPr sz="1500" b="0">
                <a:solidFill>
                  <a:srgbClr val="F5F9FF"/>
                </a:solidFill>
                <a:latin typeface="Aptos"/>
              </a:defRPr>
            </a:pPr>
            <a:r>
              <a:t>• Connection frequency</a:t>
            </a:r>
          </a:p>
        </p:txBody>
      </p:sp>
      <p:sp>
        <p:nvSpPr>
          <p:cNvPr id="10" name="Rounded Rectangle 9"/>
          <p:cNvSpPr/>
          <p:nvPr/>
        </p:nvSpPr>
        <p:spPr>
          <a:xfrm>
            <a:off x="4389120" y="1508760"/>
            <a:ext cx="3429000" cy="356616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508760"/>
            <a:ext cx="73152" cy="3566160"/>
          </a:xfrm>
          <a:prstGeom prst="rect">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673351"/>
            <a:ext cx="3017520" cy="347472"/>
          </a:xfrm>
          <a:prstGeom prst="rect">
            <a:avLst/>
          </a:prstGeom>
          <a:noFill/>
        </p:spPr>
        <p:txBody>
          <a:bodyPr wrap="square">
            <a:spAutoFit/>
          </a:bodyPr>
          <a:lstStyle/>
          <a:p>
            <a:pPr>
              <a:spcAft>
                <a:spcPts val="900"/>
              </a:spcAft>
              <a:defRPr sz="1700" b="1">
                <a:solidFill>
                  <a:srgbClr val="00BEB4"/>
                </a:solidFill>
                <a:latin typeface="Aptos"/>
              </a:defRPr>
            </a:pPr>
            <a:r>
              <a:t>ANALYSIS LAYER</a:t>
            </a:r>
          </a:p>
        </p:txBody>
      </p:sp>
      <p:sp>
        <p:nvSpPr>
          <p:cNvPr id="13" name="TextBox 12"/>
          <p:cNvSpPr txBox="1"/>
          <p:nvPr/>
        </p:nvSpPr>
        <p:spPr>
          <a:xfrm>
            <a:off x="4617720" y="2130552"/>
            <a:ext cx="3017520" cy="2852928"/>
          </a:xfrm>
          <a:prstGeom prst="rect">
            <a:avLst/>
          </a:prstGeom>
          <a:noFill/>
        </p:spPr>
        <p:txBody>
          <a:bodyPr wrap="square">
            <a:spAutoFit/>
          </a:bodyPr>
          <a:lstStyle/>
          <a:p>
            <a:pPr>
              <a:spcAft>
                <a:spcPts val="900"/>
              </a:spcAft>
              <a:defRPr sz="1500" b="0">
                <a:solidFill>
                  <a:srgbClr val="F5F9FF"/>
                </a:solidFill>
                <a:latin typeface="Aptos"/>
              </a:defRPr>
            </a:pPr>
            <a:r>
              <a:t>Python backend</a:t>
            </a:r>
          </a:p>
          <a:p>
            <a:pPr>
              <a:spcAft>
                <a:spcPts val="900"/>
              </a:spcAft>
              <a:defRPr sz="1500" b="0">
                <a:solidFill>
                  <a:srgbClr val="F5F9FF"/>
                </a:solidFill>
                <a:latin typeface="Aptos"/>
              </a:defRPr>
            </a:pPr>
          </a:p>
          <a:p>
            <a:pPr>
              <a:spcAft>
                <a:spcPts val="900"/>
              </a:spcAft>
              <a:defRPr sz="1500" b="0">
                <a:solidFill>
                  <a:srgbClr val="F5F9FF"/>
                </a:solidFill>
                <a:latin typeface="Aptos"/>
              </a:defRPr>
            </a:pPr>
            <a:r>
              <a:t>• Data cleaning</a:t>
            </a:r>
          </a:p>
          <a:p>
            <a:pPr>
              <a:spcAft>
                <a:spcPts val="900"/>
              </a:spcAft>
              <a:defRPr sz="1500" b="0">
                <a:solidFill>
                  <a:srgbClr val="F5F9FF"/>
                </a:solidFill>
                <a:latin typeface="Aptos"/>
              </a:defRPr>
            </a:pPr>
            <a:r>
              <a:t>• Feature extraction</a:t>
            </a:r>
          </a:p>
          <a:p>
            <a:pPr>
              <a:spcAft>
                <a:spcPts val="900"/>
              </a:spcAft>
              <a:defRPr sz="1500" b="0">
                <a:solidFill>
                  <a:srgbClr val="F5F9FF"/>
                </a:solidFill>
                <a:latin typeface="Aptos"/>
              </a:defRPr>
            </a:pPr>
            <a:r>
              <a:t>• Rule checks or ML anomaly detection</a:t>
            </a:r>
          </a:p>
          <a:p>
            <a:pPr>
              <a:spcAft>
                <a:spcPts val="900"/>
              </a:spcAft>
              <a:defRPr sz="1500" b="0">
                <a:solidFill>
                  <a:srgbClr val="F5F9FF"/>
                </a:solidFill>
                <a:latin typeface="Aptos"/>
              </a:defRPr>
            </a:pPr>
            <a:r>
              <a:t>• Risk classification</a:t>
            </a:r>
          </a:p>
        </p:txBody>
      </p:sp>
      <p:sp>
        <p:nvSpPr>
          <p:cNvPr id="14" name="Rounded Rectangle 13"/>
          <p:cNvSpPr/>
          <p:nvPr/>
        </p:nvSpPr>
        <p:spPr>
          <a:xfrm>
            <a:off x="8046720" y="1508760"/>
            <a:ext cx="3429000" cy="356616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508760"/>
            <a:ext cx="73152" cy="3566160"/>
          </a:xfrm>
          <a:prstGeom prst="rect">
            <a:avLst/>
          </a:prstGeom>
          <a:solidFill>
            <a:srgbClr val="FFB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673351"/>
            <a:ext cx="3017520" cy="347472"/>
          </a:xfrm>
          <a:prstGeom prst="rect">
            <a:avLst/>
          </a:prstGeom>
          <a:noFill/>
        </p:spPr>
        <p:txBody>
          <a:bodyPr wrap="square">
            <a:spAutoFit/>
          </a:bodyPr>
          <a:lstStyle/>
          <a:p>
            <a:pPr>
              <a:spcAft>
                <a:spcPts val="900"/>
              </a:spcAft>
              <a:defRPr sz="1700" b="1">
                <a:solidFill>
                  <a:srgbClr val="FFB24A"/>
                </a:solidFill>
                <a:latin typeface="Aptos"/>
              </a:defRPr>
            </a:pPr>
            <a:r>
              <a:t>USER INTERFACE</a:t>
            </a:r>
          </a:p>
        </p:txBody>
      </p:sp>
      <p:sp>
        <p:nvSpPr>
          <p:cNvPr id="17" name="TextBox 16"/>
          <p:cNvSpPr txBox="1"/>
          <p:nvPr/>
        </p:nvSpPr>
        <p:spPr>
          <a:xfrm>
            <a:off x="8275320" y="2130552"/>
            <a:ext cx="3017520" cy="2852928"/>
          </a:xfrm>
          <a:prstGeom prst="rect">
            <a:avLst/>
          </a:prstGeom>
          <a:noFill/>
        </p:spPr>
        <p:txBody>
          <a:bodyPr wrap="square">
            <a:spAutoFit/>
          </a:bodyPr>
          <a:lstStyle/>
          <a:p>
            <a:pPr>
              <a:spcAft>
                <a:spcPts val="900"/>
              </a:spcAft>
              <a:defRPr sz="1500" b="0">
                <a:solidFill>
                  <a:srgbClr val="F5F9FF"/>
                </a:solidFill>
                <a:latin typeface="Aptos"/>
              </a:defRPr>
            </a:pPr>
            <a:r>
              <a:t>Web dashboard</a:t>
            </a:r>
          </a:p>
          <a:p>
            <a:pPr>
              <a:spcAft>
                <a:spcPts val="900"/>
              </a:spcAft>
              <a:defRPr sz="1500" b="0">
                <a:solidFill>
                  <a:srgbClr val="F5F9FF"/>
                </a:solidFill>
                <a:latin typeface="Aptos"/>
              </a:defRPr>
            </a:pPr>
          </a:p>
          <a:p>
            <a:pPr>
              <a:spcAft>
                <a:spcPts val="900"/>
              </a:spcAft>
              <a:defRPr sz="1500" b="0">
                <a:solidFill>
                  <a:srgbClr val="F5F9FF"/>
                </a:solidFill>
                <a:latin typeface="Aptos"/>
              </a:defRPr>
            </a:pPr>
            <a:r>
              <a:t>• Summary cards</a:t>
            </a:r>
          </a:p>
          <a:p>
            <a:pPr>
              <a:spcAft>
                <a:spcPts val="900"/>
              </a:spcAft>
              <a:defRPr sz="1500" b="0">
                <a:solidFill>
                  <a:srgbClr val="F5F9FF"/>
                </a:solidFill>
                <a:latin typeface="Aptos"/>
              </a:defRPr>
            </a:pPr>
            <a:r>
              <a:t>• Traffic charts</a:t>
            </a:r>
          </a:p>
          <a:p>
            <a:pPr>
              <a:spcAft>
                <a:spcPts val="900"/>
              </a:spcAft>
              <a:defRPr sz="1500" b="0">
                <a:solidFill>
                  <a:srgbClr val="F5F9FF"/>
                </a:solidFill>
                <a:latin typeface="Aptos"/>
              </a:defRPr>
            </a:pPr>
            <a:r>
              <a:t>• Alert list</a:t>
            </a:r>
          </a:p>
          <a:p>
            <a:pPr>
              <a:spcAft>
                <a:spcPts val="900"/>
              </a:spcAft>
              <a:defRPr sz="1500" b="0">
                <a:solidFill>
                  <a:srgbClr val="F5F9FF"/>
                </a:solidFill>
                <a:latin typeface="Aptos"/>
              </a:defRPr>
            </a:pPr>
            <a:r>
              <a:t>• Risk status and reasons</a:t>
            </a:r>
          </a:p>
        </p:txBody>
      </p:sp>
      <p:sp>
        <p:nvSpPr>
          <p:cNvPr id="18" name="TextBox 17"/>
          <p:cNvSpPr txBox="1"/>
          <p:nvPr/>
        </p:nvSpPr>
        <p:spPr>
          <a:xfrm>
            <a:off x="914400" y="5532120"/>
            <a:ext cx="10241280" cy="457200"/>
          </a:xfrm>
          <a:prstGeom prst="rect">
            <a:avLst/>
          </a:prstGeom>
          <a:noFill/>
        </p:spPr>
        <p:txBody>
          <a:bodyPr wrap="square">
            <a:spAutoFit/>
          </a:bodyPr>
          <a:lstStyle/>
          <a:p>
            <a:pPr>
              <a:spcAft>
                <a:spcPts val="900"/>
              </a:spcAft>
              <a:defRPr sz="1300" b="0">
                <a:solidFill>
                  <a:srgbClr val="B8CCDE"/>
                </a:solidFill>
                <a:latin typeface="Aptos"/>
              </a:defRPr>
            </a:pPr>
            <a:r>
              <a:t>Prototype dataset: simulated data or a suitable public network-security dataset. A trained model is needed only if the selected ML method requires 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183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66928"/>
          </a:xfrm>
          <a:prstGeom prst="rect">
            <a:avLst/>
          </a:prstGeom>
          <a:noFill/>
        </p:spPr>
        <p:txBody>
          <a:bodyPr wrap="none">
            <a:spAutoFit/>
          </a:bodyPr>
          <a:lstStyle/>
          <a:p>
            <a:pPr>
              <a:defRPr sz="2900" b="1">
                <a:solidFill>
                  <a:srgbClr val="F5F9FF"/>
                </a:solidFill>
                <a:latin typeface="Aptos Display"/>
              </a:defRPr>
            </a:pPr>
            <a:r>
              <a:t>BENEFITS, LIMITATIONS &amp; FUTURE SCOPE</a:t>
            </a:r>
          </a:p>
        </p:txBody>
      </p:sp>
      <p:sp>
        <p:nvSpPr>
          <p:cNvPr id="4" name="TextBox 3"/>
          <p:cNvSpPr txBox="1"/>
          <p:nvPr/>
        </p:nvSpPr>
        <p:spPr>
          <a:xfrm>
            <a:off x="676656" y="960120"/>
            <a:ext cx="10789920" cy="320040"/>
          </a:xfrm>
          <a:prstGeom prst="rect">
            <a:avLst/>
          </a:prstGeom>
          <a:noFill/>
        </p:spPr>
        <p:txBody>
          <a:bodyPr wrap="none">
            <a:spAutoFit/>
          </a:bodyPr>
          <a:lstStyle/>
          <a:p>
            <a:pPr>
              <a:defRPr sz="1200">
                <a:solidFill>
                  <a:srgbClr val="49D2E1"/>
                </a:solidFill>
                <a:latin typeface="Aptos"/>
              </a:defRPr>
            </a:pPr>
            <a:r>
              <a:t>A realistic hackathon prototype</a:t>
            </a:r>
          </a:p>
        </p:txBody>
      </p:sp>
      <p:sp>
        <p:nvSpPr>
          <p:cNvPr id="5" name="TextBox 4"/>
          <p:cNvSpPr txBox="1"/>
          <p:nvPr/>
        </p:nvSpPr>
        <p:spPr>
          <a:xfrm>
            <a:off x="11155680" y="6473952"/>
            <a:ext cx="457200" cy="182880"/>
          </a:xfrm>
          <a:prstGeom prst="rect">
            <a:avLst/>
          </a:prstGeom>
          <a:noFill/>
        </p:spPr>
        <p:txBody>
          <a:bodyPr wrap="none">
            <a:spAutoFit/>
          </a:bodyPr>
          <a:lstStyle/>
          <a:p>
            <a:pPr algn="r">
              <a:defRPr sz="1000">
                <a:solidFill>
                  <a:srgbClr val="B8CCDE"/>
                </a:solidFill>
              </a:defRPr>
            </a:pPr>
            <a:r>
              <a:t>10</a:t>
            </a:r>
          </a:p>
        </p:txBody>
      </p:sp>
      <p:sp>
        <p:nvSpPr>
          <p:cNvPr id="6" name="Rounded Rectangle 5"/>
          <p:cNvSpPr/>
          <p:nvPr/>
        </p:nvSpPr>
        <p:spPr>
          <a:xfrm>
            <a:off x="731520" y="1463040"/>
            <a:ext cx="3429000" cy="438912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63040"/>
            <a:ext cx="73152" cy="4389120"/>
          </a:xfrm>
          <a:prstGeom prst="rect">
            <a:avLst/>
          </a:prstGeom>
          <a:solidFill>
            <a:srgbClr val="51D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27632"/>
            <a:ext cx="3017520" cy="347472"/>
          </a:xfrm>
          <a:prstGeom prst="rect">
            <a:avLst/>
          </a:prstGeom>
          <a:noFill/>
        </p:spPr>
        <p:txBody>
          <a:bodyPr wrap="square">
            <a:spAutoFit/>
          </a:bodyPr>
          <a:lstStyle/>
          <a:p>
            <a:pPr>
              <a:spcAft>
                <a:spcPts val="900"/>
              </a:spcAft>
              <a:defRPr sz="1700" b="1">
                <a:solidFill>
                  <a:srgbClr val="51D294"/>
                </a:solidFill>
                <a:latin typeface="Aptos"/>
              </a:defRPr>
            </a:pPr>
            <a:r>
              <a:t>Benefits</a:t>
            </a:r>
          </a:p>
        </p:txBody>
      </p:sp>
      <p:sp>
        <p:nvSpPr>
          <p:cNvPr id="9" name="TextBox 8"/>
          <p:cNvSpPr txBox="1"/>
          <p:nvPr/>
        </p:nvSpPr>
        <p:spPr>
          <a:xfrm>
            <a:off x="960120" y="2084832"/>
            <a:ext cx="3017520" cy="3675887"/>
          </a:xfrm>
          <a:prstGeom prst="rect">
            <a:avLst/>
          </a:prstGeom>
          <a:noFill/>
        </p:spPr>
        <p:txBody>
          <a:bodyPr wrap="square">
            <a:spAutoFit/>
          </a:bodyPr>
          <a:lstStyle/>
          <a:p>
            <a:pPr>
              <a:spcAft>
                <a:spcPts val="900"/>
              </a:spcAft>
              <a:defRPr sz="1600" b="0">
                <a:solidFill>
                  <a:srgbClr val="F5F9FF"/>
                </a:solidFill>
                <a:latin typeface="Aptos"/>
              </a:defRPr>
            </a:pPr>
            <a:r>
              <a:t>• Clear traffic summary</a:t>
            </a:r>
          </a:p>
          <a:p>
            <a:pPr>
              <a:spcAft>
                <a:spcPts val="900"/>
              </a:spcAft>
              <a:defRPr sz="1600" b="0">
                <a:solidFill>
                  <a:srgbClr val="F5F9FF"/>
                </a:solidFill>
                <a:latin typeface="Aptos"/>
              </a:defRPr>
            </a:pPr>
            <a:r>
              <a:t>• Easier alert review</a:t>
            </a:r>
          </a:p>
          <a:p>
            <a:pPr>
              <a:spcAft>
                <a:spcPts val="900"/>
              </a:spcAft>
              <a:defRPr sz="1600" b="0">
                <a:solidFill>
                  <a:srgbClr val="F5F9FF"/>
                </a:solidFill>
                <a:latin typeface="Aptos"/>
              </a:defRPr>
            </a:pPr>
            <a:r>
              <a:t>• Risk-based prioritization</a:t>
            </a:r>
          </a:p>
          <a:p>
            <a:pPr>
              <a:spcAft>
                <a:spcPts val="900"/>
              </a:spcAft>
              <a:defRPr sz="1600" b="0">
                <a:solidFill>
                  <a:srgbClr val="F5F9FF"/>
                </a:solidFill>
                <a:latin typeface="Aptos"/>
              </a:defRPr>
            </a:pPr>
            <a:r>
              <a:t>• Supports awareness of abnormal patterns</a:t>
            </a:r>
          </a:p>
        </p:txBody>
      </p:sp>
      <p:sp>
        <p:nvSpPr>
          <p:cNvPr id="10" name="Rounded Rectangle 9"/>
          <p:cNvSpPr/>
          <p:nvPr/>
        </p:nvSpPr>
        <p:spPr>
          <a:xfrm>
            <a:off x="4389120" y="1463040"/>
            <a:ext cx="3429000" cy="438912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463040"/>
            <a:ext cx="73152" cy="4389120"/>
          </a:xfrm>
          <a:prstGeom prst="rect">
            <a:avLst/>
          </a:prstGeom>
          <a:solidFill>
            <a:srgbClr val="FFB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627632"/>
            <a:ext cx="3017520" cy="347472"/>
          </a:xfrm>
          <a:prstGeom prst="rect">
            <a:avLst/>
          </a:prstGeom>
          <a:noFill/>
        </p:spPr>
        <p:txBody>
          <a:bodyPr wrap="square">
            <a:spAutoFit/>
          </a:bodyPr>
          <a:lstStyle/>
          <a:p>
            <a:pPr>
              <a:spcAft>
                <a:spcPts val="900"/>
              </a:spcAft>
              <a:defRPr sz="1700" b="1">
                <a:solidFill>
                  <a:srgbClr val="FFB24A"/>
                </a:solidFill>
                <a:latin typeface="Aptos"/>
              </a:defRPr>
            </a:pPr>
            <a:r>
              <a:t>Current Limitations</a:t>
            </a:r>
          </a:p>
        </p:txBody>
      </p:sp>
      <p:sp>
        <p:nvSpPr>
          <p:cNvPr id="13" name="TextBox 12"/>
          <p:cNvSpPr txBox="1"/>
          <p:nvPr/>
        </p:nvSpPr>
        <p:spPr>
          <a:xfrm>
            <a:off x="4617720" y="2084832"/>
            <a:ext cx="3017520" cy="3675887"/>
          </a:xfrm>
          <a:prstGeom prst="rect">
            <a:avLst/>
          </a:prstGeom>
          <a:noFill/>
        </p:spPr>
        <p:txBody>
          <a:bodyPr wrap="square">
            <a:spAutoFit/>
          </a:bodyPr>
          <a:lstStyle/>
          <a:p>
            <a:pPr>
              <a:spcAft>
                <a:spcPts val="900"/>
              </a:spcAft>
              <a:defRPr sz="1500" b="0">
                <a:solidFill>
                  <a:srgbClr val="F5F9FF"/>
                </a:solidFill>
                <a:latin typeface="Aptos"/>
              </a:defRPr>
            </a:pPr>
            <a:r>
              <a:t>• Demo data may not reflect real 5G traffic</a:t>
            </a:r>
          </a:p>
          <a:p>
            <a:pPr>
              <a:spcAft>
                <a:spcPts val="900"/>
              </a:spcAft>
              <a:defRPr sz="1500" b="0">
                <a:solidFill>
                  <a:srgbClr val="F5F9FF"/>
                </a:solidFill>
                <a:latin typeface="Aptos"/>
              </a:defRPr>
            </a:pPr>
            <a:r>
              <a:t>• False alerts can occur</a:t>
            </a:r>
          </a:p>
          <a:p>
            <a:pPr>
              <a:spcAft>
                <a:spcPts val="900"/>
              </a:spcAft>
              <a:defRPr sz="1500" b="0">
                <a:solidFill>
                  <a:srgbClr val="F5F9FF"/>
                </a:solidFill>
                <a:latin typeface="Aptos"/>
              </a:defRPr>
            </a:pPr>
            <a:r>
              <a:t>• Accuracy depends on data and detection method</a:t>
            </a:r>
          </a:p>
          <a:p>
            <a:pPr>
              <a:spcAft>
                <a:spcPts val="900"/>
              </a:spcAft>
              <a:defRPr sz="1500" b="0">
                <a:solidFill>
                  <a:srgbClr val="F5F9FF"/>
                </a:solidFill>
                <a:latin typeface="Aptos"/>
              </a:defRPr>
            </a:pPr>
            <a:r>
              <a:t>• Not a replacement for telecom-grade security</a:t>
            </a:r>
          </a:p>
        </p:txBody>
      </p:sp>
      <p:sp>
        <p:nvSpPr>
          <p:cNvPr id="14" name="Rounded Rectangle 13"/>
          <p:cNvSpPr/>
          <p:nvPr/>
        </p:nvSpPr>
        <p:spPr>
          <a:xfrm>
            <a:off x="8046720" y="1463040"/>
            <a:ext cx="3429000" cy="438912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463040"/>
            <a:ext cx="73152" cy="4389120"/>
          </a:xfrm>
          <a:prstGeom prst="rect">
            <a:avLst/>
          </a:prstGeom>
          <a:solidFill>
            <a:srgbClr val="49D2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627632"/>
            <a:ext cx="3017520" cy="347472"/>
          </a:xfrm>
          <a:prstGeom prst="rect">
            <a:avLst/>
          </a:prstGeom>
          <a:noFill/>
        </p:spPr>
        <p:txBody>
          <a:bodyPr wrap="square">
            <a:spAutoFit/>
          </a:bodyPr>
          <a:lstStyle/>
          <a:p>
            <a:pPr>
              <a:spcAft>
                <a:spcPts val="900"/>
              </a:spcAft>
              <a:defRPr sz="1700" b="1">
                <a:solidFill>
                  <a:srgbClr val="49D2E1"/>
                </a:solidFill>
                <a:latin typeface="Aptos"/>
              </a:defRPr>
            </a:pPr>
            <a:r>
              <a:t>Future Scope</a:t>
            </a:r>
          </a:p>
        </p:txBody>
      </p:sp>
      <p:sp>
        <p:nvSpPr>
          <p:cNvPr id="17" name="TextBox 16"/>
          <p:cNvSpPr txBox="1"/>
          <p:nvPr/>
        </p:nvSpPr>
        <p:spPr>
          <a:xfrm>
            <a:off x="8275320" y="2084832"/>
            <a:ext cx="3017520" cy="3675887"/>
          </a:xfrm>
          <a:prstGeom prst="rect">
            <a:avLst/>
          </a:prstGeom>
          <a:noFill/>
        </p:spPr>
        <p:txBody>
          <a:bodyPr wrap="square">
            <a:spAutoFit/>
          </a:bodyPr>
          <a:lstStyle/>
          <a:p>
            <a:pPr>
              <a:spcAft>
                <a:spcPts val="900"/>
              </a:spcAft>
              <a:defRPr sz="1600" b="0">
                <a:solidFill>
                  <a:srgbClr val="F5F9FF"/>
                </a:solidFill>
                <a:latin typeface="Aptos"/>
              </a:defRPr>
            </a:pPr>
            <a:r>
              <a:t>• Live traffic integration with authorization</a:t>
            </a:r>
          </a:p>
          <a:p>
            <a:pPr>
              <a:spcAft>
                <a:spcPts val="900"/>
              </a:spcAft>
              <a:defRPr sz="1600" b="0">
                <a:solidFill>
                  <a:srgbClr val="F5F9FF"/>
                </a:solidFill>
                <a:latin typeface="Aptos"/>
              </a:defRPr>
            </a:pPr>
            <a:r>
              <a:t>• Better trained detection models</a:t>
            </a:r>
          </a:p>
          <a:p>
            <a:pPr>
              <a:spcAft>
                <a:spcPts val="900"/>
              </a:spcAft>
              <a:defRPr sz="1600" b="0">
                <a:solidFill>
                  <a:srgbClr val="F5F9FF"/>
                </a:solidFill>
                <a:latin typeface="Aptos"/>
              </a:defRPr>
            </a:pPr>
            <a:r>
              <a:t>• Device behaviour timeline</a:t>
            </a:r>
          </a:p>
          <a:p>
            <a:pPr>
              <a:spcAft>
                <a:spcPts val="900"/>
              </a:spcAft>
              <a:defRPr sz="1600" b="0">
                <a:solidFill>
                  <a:srgbClr val="F5F9FF"/>
                </a:solidFill>
                <a:latin typeface="Aptos"/>
              </a:defRPr>
            </a:pPr>
            <a:r>
              <a:t>• Alert notifications and audit logs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183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66928"/>
          </a:xfrm>
          <a:prstGeom prst="rect">
            <a:avLst/>
          </a:prstGeom>
          <a:noFill/>
        </p:spPr>
        <p:txBody>
          <a:bodyPr wrap="none">
            <a:spAutoFit/>
          </a:bodyPr>
          <a:lstStyle/>
          <a:p>
            <a:pPr>
              <a:defRPr sz="2900" b="1">
                <a:solidFill>
                  <a:srgbClr val="F5F9FF"/>
                </a:solidFill>
                <a:latin typeface="Aptos Display"/>
              </a:defRPr>
            </a:pPr>
            <a:r>
              <a:t>CONCLUSION</a:t>
            </a:r>
          </a:p>
        </p:txBody>
      </p:sp>
      <p:sp>
        <p:nvSpPr>
          <p:cNvPr id="4" name="TextBox 3"/>
          <p:cNvSpPr txBox="1"/>
          <p:nvPr/>
        </p:nvSpPr>
        <p:spPr>
          <a:xfrm>
            <a:off x="676656" y="960120"/>
            <a:ext cx="10789920" cy="320040"/>
          </a:xfrm>
          <a:prstGeom prst="rect">
            <a:avLst/>
          </a:prstGeom>
          <a:noFill/>
        </p:spPr>
        <p:txBody>
          <a:bodyPr wrap="none">
            <a:spAutoFit/>
          </a:bodyPr>
          <a:lstStyle/>
          <a:p>
            <a:pPr>
              <a:defRPr sz="1200">
                <a:solidFill>
                  <a:srgbClr val="49D2E1"/>
                </a:solidFill>
                <a:latin typeface="Aptos"/>
              </a:defRPr>
            </a:pPr>
            <a:r>
              <a:t>Making network activity easier to understand</a:t>
            </a:r>
          </a:p>
        </p:txBody>
      </p:sp>
      <p:sp>
        <p:nvSpPr>
          <p:cNvPr id="5" name="TextBox 4"/>
          <p:cNvSpPr txBox="1"/>
          <p:nvPr/>
        </p:nvSpPr>
        <p:spPr>
          <a:xfrm>
            <a:off x="11155680" y="6473952"/>
            <a:ext cx="457200" cy="182880"/>
          </a:xfrm>
          <a:prstGeom prst="rect">
            <a:avLst/>
          </a:prstGeom>
          <a:noFill/>
        </p:spPr>
        <p:txBody>
          <a:bodyPr wrap="none">
            <a:spAutoFit/>
          </a:bodyPr>
          <a:lstStyle/>
          <a:p>
            <a:pPr algn="r">
              <a:defRPr sz="1000">
                <a:solidFill>
                  <a:srgbClr val="B8CCDE"/>
                </a:solidFill>
              </a:defRPr>
            </a:pPr>
            <a:r>
              <a:t>11</a:t>
            </a:r>
          </a:p>
        </p:txBody>
      </p:sp>
      <p:sp>
        <p:nvSpPr>
          <p:cNvPr id="6" name="Rounded Rectangle 5"/>
          <p:cNvSpPr/>
          <p:nvPr/>
        </p:nvSpPr>
        <p:spPr>
          <a:xfrm>
            <a:off x="777240" y="1600200"/>
            <a:ext cx="10652760" cy="3566160"/>
          </a:xfrm>
          <a:prstGeom prst="roundRect">
            <a:avLst/>
          </a:prstGeom>
          <a:solidFill>
            <a:srgbClr val="0D2742"/>
          </a:solidFill>
          <a:ln>
            <a:solidFill>
              <a:srgbClr val="224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00200"/>
            <a:ext cx="73152" cy="3566160"/>
          </a:xfrm>
          <a:prstGeom prst="rect">
            <a:avLst/>
          </a:prstGeom>
          <a:solidFill>
            <a:srgbClr val="00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64792"/>
            <a:ext cx="10241280" cy="347472"/>
          </a:xfrm>
          <a:prstGeom prst="rect">
            <a:avLst/>
          </a:prstGeom>
          <a:noFill/>
        </p:spPr>
        <p:txBody>
          <a:bodyPr wrap="square">
            <a:spAutoFit/>
          </a:bodyPr>
          <a:lstStyle/>
          <a:p>
            <a:pPr>
              <a:spcAft>
                <a:spcPts val="900"/>
              </a:spcAft>
              <a:defRPr sz="1700" b="1">
                <a:solidFill>
                  <a:srgbClr val="00BEB4"/>
                </a:solidFill>
                <a:latin typeface="Aptos"/>
              </a:defRPr>
            </a:pPr>
            <a:r>
              <a:t>Key Takeaway</a:t>
            </a:r>
          </a:p>
        </p:txBody>
      </p:sp>
      <p:sp>
        <p:nvSpPr>
          <p:cNvPr id="9" name="TextBox 8"/>
          <p:cNvSpPr txBox="1"/>
          <p:nvPr/>
        </p:nvSpPr>
        <p:spPr>
          <a:xfrm>
            <a:off x="1005840" y="2221992"/>
            <a:ext cx="10241280" cy="2852928"/>
          </a:xfrm>
          <a:prstGeom prst="rect">
            <a:avLst/>
          </a:prstGeom>
          <a:noFill/>
        </p:spPr>
        <p:txBody>
          <a:bodyPr wrap="square">
            <a:spAutoFit/>
          </a:bodyPr>
          <a:lstStyle/>
          <a:p>
            <a:pPr>
              <a:spcAft>
                <a:spcPts val="900"/>
              </a:spcAft>
              <a:defRPr sz="1900" b="0">
                <a:solidFill>
                  <a:srgbClr val="F5F9FF"/>
                </a:solidFill>
                <a:latin typeface="Aptos"/>
              </a:defRPr>
            </a:pPr>
            <a:r>
              <a:t>The 5G Network Security System is a dashboard-based prototype concept for identifying potentially suspicious network activity. It organizes traffic information, classifies risk, and explains why an event may need attention.</a:t>
            </a:r>
          </a:p>
          <a:p>
            <a:pPr>
              <a:spcAft>
                <a:spcPts val="900"/>
              </a:spcAft>
              <a:defRPr sz="1900" b="0">
                <a:solidFill>
                  <a:srgbClr val="F5F9FF"/>
                </a:solidFill>
                <a:latin typeface="Aptos"/>
              </a:defRPr>
            </a:pPr>
          </a:p>
          <a:p>
            <a:pPr>
              <a:spcAft>
                <a:spcPts val="900"/>
              </a:spcAft>
              <a:defRPr sz="1900" b="0">
                <a:solidFill>
                  <a:srgbClr val="F5F9FF"/>
                </a:solidFill>
                <a:latin typeface="Aptos"/>
              </a:defRPr>
            </a:pPr>
            <a:r>
              <a:t>By separating the frontend (visual monitoring) from the backend (data processing and detection), the design is easy to explain, demonstrate and extend. The next step is to test it with suitable traffic data and evaluate its accuracy.</a:t>
            </a:r>
          </a:p>
        </p:txBody>
      </p:sp>
      <p:sp>
        <p:nvSpPr>
          <p:cNvPr id="10" name="TextBox 9"/>
          <p:cNvSpPr txBox="1"/>
          <p:nvPr/>
        </p:nvSpPr>
        <p:spPr>
          <a:xfrm>
            <a:off x="914400" y="5669280"/>
            <a:ext cx="10241280" cy="365760"/>
          </a:xfrm>
          <a:prstGeom prst="rect">
            <a:avLst/>
          </a:prstGeom>
          <a:noFill/>
        </p:spPr>
        <p:txBody>
          <a:bodyPr wrap="square">
            <a:spAutoFit/>
          </a:bodyPr>
          <a:lstStyle/>
          <a:p>
            <a:pPr algn="ctr">
              <a:spcAft>
                <a:spcPts val="900"/>
              </a:spcAft>
              <a:defRPr sz="2000" b="1">
                <a:solidFill>
                  <a:srgbClr val="49D2E1"/>
                </a:solidFill>
                <a:latin typeface="Aptos"/>
              </a:defRPr>
            </a:pPr>
            <a:r>
              <a:t>Thank you  •  Questions?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1155680" cy="594360"/>
          </a:xfrm>
          <a:prstGeom prst="rect">
            <a:avLst/>
          </a:prstGeom>
          <a:noFill/>
        </p:spPr>
        <p:txBody>
          <a:bodyPr wrap="none">
            <a:spAutoFit/>
          </a:bodyPr>
          <a:lstStyle/>
          <a:p>
            <a:pPr algn="ctr">
              <a:defRPr sz="2500" b="1">
                <a:solidFill>
                  <a:srgbClr val="185B3D"/>
                </a:solidFill>
                <a:latin typeface="Aptos Display"/>
              </a:defRPr>
            </a:pPr>
            <a:r>
              <a:t>IMPLEMENTATION FLOW &amp; PROTOTYPE NOTES</a:t>
            </a:r>
          </a:p>
        </p:txBody>
      </p:sp>
      <p:pic>
        <p:nvPicPr>
          <p:cNvPr id="3" name="Picture 2" descr="project_notes_cropped.jpg"/>
          <p:cNvPicPr>
            <a:picLocks noChangeAspect="1"/>
          </p:cNvPicPr>
          <p:nvPr/>
        </p:nvPicPr>
        <p:blipFill>
          <a:blip r:embed="rId2"/>
          <a:stretch>
            <a:fillRect/>
          </a:stretch>
        </p:blipFill>
        <p:spPr>
          <a:xfrm>
            <a:off x="4198467" y="868680"/>
            <a:ext cx="3794760" cy="55321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